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people never work out why the worse product keeps winning.
Click 1: It is not price.  Click 2: It is not quality.  Click 3: it's the transformation.
Click 4: People buy the transformation your product really gives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157 dollars to get one customer.
The number builds in by itself; no clicks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fixes, three worse numbers.
Click 1: New creative did not move it.  Click 2: A cheaper agency brought it to 120.
Click 3: More budget pushed it to 198.  Click 4: Same customer, more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fixes, three worse numbers, because the ads were never the problem.
Click 1: Nobody asked the only question that matters: what does the customer actually 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they changed one sentence.
Clicks 1–3: Same product. Same audience. Same budget.
Click 4: only the sentence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product. Same audience. Same budget.
Click 1: 42.  Click 2: 18.  Click 3: 3.58.  Click 4: from one sentence.
Note: the Short gives these numbers without a label; 'cost per customer' is inferred from the title (157 dollars to 3.58).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 a man in a hardware store staring at three drills.
Clicks 1–3: the drills.  Click 4: He is not reading the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 is not buying the drill.
Clicks 1–3: He is buying his garage, the shelf finally level, and the job done.
Click 4: The drill is just the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Nobody buys a ride in the taxi.
Click 1: They are buying a ride home.
Click 2: Nobody buys your service for the service. They are buying the identity you hand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a two second pause that costs business owners more money than any competitor.
Click 1: They go quiet.  Click 2: And you fill the silence with a discount.
Click 3: Fill the pause with the transformation and the discount never comes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People buy the transformation your product really gives them.
Clicks 1–3: Name the transformation they are buying, then make every page, every price and every word show it.
Click 4: WIN-WIN.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ral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ral-title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blue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blue-title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purple-image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purple-title-image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amber-image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amber-title-image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green-image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green-title-image-1.pn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teal-image-1.pn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teal-titl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a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al-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-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-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mb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mber-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-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l-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g"/>
          <p:cNvSpPr txBox="1"/>
          <p:nvPr/>
        </p:nvSpPr>
        <p:spPr>
          <a:xfrm>
            <a:off x="685800" y="50292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1613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WIN-WIN</a:t>
            </a:r>
            <a:endParaRPr lang="en-US" sz="1300" dirty="0"/>
          </a:p>
        </p:txBody>
      </p:sp>
      <p:sp>
        <p:nvSpPr>
          <p:cNvPr id="4" name="Headline"/>
          <p:cNvSpPr txBox="1"/>
          <p:nvPr/>
        </p:nvSpPr>
        <p:spPr>
          <a:xfrm>
            <a:off x="685800" y="114300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</a:t>
            </a:r>
            <a:pPr indent="0" marL="0">
              <a:buNone/>
            </a:pPr>
            <a:r>
              <a:rPr lang="en-US" sz="5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worse product</a:t>
            </a:r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keeps winning</a:t>
            </a:r>
            <a:endParaRPr lang="en-US" sz="5800" dirty="0"/>
          </a:p>
        </p:txBody>
      </p:sp>
      <p:sp>
        <p:nvSpPr>
          <p:cNvPr id="5" name="Price"/>
          <p:cNvSpPr txBox="1"/>
          <p:nvPr/>
        </p:nvSpPr>
        <p:spPr>
          <a:xfrm rot="-360000">
            <a:off x="7086600" y="914400"/>
            <a:ext cx="2743200" cy="1737360"/>
          </a:xfrm>
          <a:prstGeom prst="roundRect">
            <a:avLst>
              <a:gd name="adj" fmla="val 15789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34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B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price.</a:t>
            </a:r>
            <a:endParaRPr lang="en-US" sz="3400" dirty="0"/>
          </a:p>
        </p:txBody>
      </p:sp>
      <p:sp>
        <p:nvSpPr>
          <p:cNvPr id="6" name="Price X"/>
          <p:cNvSpPr txBox="1"/>
          <p:nvPr/>
        </p:nvSpPr>
        <p:spPr>
          <a:xfrm>
            <a:off x="9235440" y="685800"/>
            <a:ext cx="685800" cy="685800"/>
          </a:xfrm>
          <a:prstGeom prst="ellipse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✕</a:t>
            </a:r>
            <a:endParaRPr lang="en-US" sz="2400" dirty="0"/>
          </a:p>
        </p:txBody>
      </p:sp>
      <p:sp>
        <p:nvSpPr>
          <p:cNvPr id="7" name="Quality"/>
          <p:cNvSpPr txBox="1"/>
          <p:nvPr/>
        </p:nvSpPr>
        <p:spPr>
          <a:xfrm rot="240000">
            <a:off x="8732520" y="1417320"/>
            <a:ext cx="2743200" cy="1737360"/>
          </a:xfrm>
          <a:prstGeom prst="roundRect">
            <a:avLst>
              <a:gd name="adj" fmla="val 15789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34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B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quality.</a:t>
            </a:r>
            <a:endParaRPr lang="en-US" sz="3400" dirty="0"/>
          </a:p>
        </p:txBody>
      </p:sp>
      <p:sp>
        <p:nvSpPr>
          <p:cNvPr id="8" name="Quality X"/>
          <p:cNvSpPr txBox="1"/>
          <p:nvPr/>
        </p:nvSpPr>
        <p:spPr>
          <a:xfrm>
            <a:off x="10881360" y="1188720"/>
            <a:ext cx="685800" cy="685800"/>
          </a:xfrm>
          <a:prstGeom prst="ellipse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✕</a:t>
            </a:r>
            <a:endParaRPr lang="en-US" sz="2400" dirty="0"/>
          </a:p>
        </p:txBody>
      </p:sp>
      <p:sp>
        <p:nvSpPr>
          <p:cNvPr id="9" name="Transformation"/>
          <p:cNvSpPr txBox="1"/>
          <p:nvPr/>
        </p:nvSpPr>
        <p:spPr>
          <a:xfrm rot="-120000">
            <a:off x="7223760" y="3657600"/>
            <a:ext cx="4297680" cy="1600200"/>
          </a:xfrm>
          <a:prstGeom prst="roundRect">
            <a:avLst>
              <a:gd name="adj" fmla="val 17143"/>
            </a:avLst>
          </a:prstGeom>
          <a:solidFill>
            <a:srgbClr val="FFC93C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transformation</a:t>
            </a:r>
            <a:endParaRPr lang="en-US" sz="36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product really gives them</a:t>
            </a:r>
            <a:endParaRPr lang="en-US" sz="3600" dirty="0"/>
          </a:p>
        </p:txBody>
      </p:sp>
      <p:sp>
        <p:nvSpPr>
          <p:cNvPr id="10" name="Sub"/>
          <p:cNvSpPr txBox="1"/>
          <p:nvPr/>
        </p:nvSpPr>
        <p:spPr>
          <a:xfrm>
            <a:off x="685800" y="44348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buy the transformation your product really gives them.</a:t>
            </a:r>
            <a:endParaRPr lang="en-US" sz="24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22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2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2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2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25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2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g"/>
          <p:cNvSpPr txBox="1"/>
          <p:nvPr/>
        </p:nvSpPr>
        <p:spPr>
          <a:xfrm>
            <a:off x="685800" y="914400"/>
            <a:ext cx="3913632" cy="384048"/>
          </a:xfrm>
          <a:prstGeom prst="roundRect">
            <a:avLst>
              <a:gd name="adj" fmla="val 50000"/>
            </a:avLst>
          </a:prstGeom>
          <a:solidFill>
            <a:srgbClr val="1613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157 DOLLAR CUSTOMER</a:t>
            </a:r>
            <a:endParaRPr lang="en-US" sz="1300" dirty="0"/>
          </a:p>
        </p:txBody>
      </p:sp>
      <p:sp>
        <p:nvSpPr>
          <p:cNvPr id="4" name="Number"/>
          <p:cNvSpPr txBox="1"/>
          <p:nvPr/>
        </p:nvSpPr>
        <p:spPr>
          <a:xfrm>
            <a:off x="594360" y="150876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0" b="1" spc="-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$157</a:t>
            </a:r>
            <a:endParaRPr lang="en-US" sz="25000" dirty="0"/>
          </a:p>
        </p:txBody>
      </p:sp>
      <p:sp>
        <p:nvSpPr>
          <p:cNvPr id="5" name="Line"/>
          <p:cNvSpPr txBox="1"/>
          <p:nvPr/>
        </p:nvSpPr>
        <p:spPr>
          <a:xfrm>
            <a:off x="685800" y="47091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get </a:t>
            </a:r>
            <a:pPr indent="0" marL="0">
              <a:buNone/>
            </a:pPr>
            <a:r>
              <a:rPr lang="en-US" sz="4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customer.</a:t>
            </a:r>
            <a:endParaRPr lang="en-US" sz="48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22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</a:t>
            </a:r>
            <a:pPr algn="l" indent="0" marL="0">
              <a:buNone/>
            </a:pPr>
            <a:r>
              <a:rPr lang="en-US" sz="5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fixes.</a:t>
            </a:r>
            <a:endParaRPr lang="en-US" sz="5000" dirty="0"/>
          </a:p>
        </p:txBody>
      </p:sp>
      <p:sp>
        <p:nvSpPr>
          <p:cNvPr id="4" name="Fix 1"/>
          <p:cNvSpPr txBox="1"/>
          <p:nvPr/>
        </p:nvSpPr>
        <p:spPr>
          <a:xfrm rot="-120000">
            <a:off x="685800" y="2331720"/>
            <a:ext cx="3337560" cy="2743200"/>
          </a:xfrm>
          <a:prstGeom prst="roundRect">
            <a:avLst>
              <a:gd name="adj" fmla="val 10000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t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6B6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1</a:t>
            </a:r>
            <a:endParaRPr lang="en-US" sz="13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creative</a:t>
            </a:r>
            <a:endParaRPr lang="en-US" sz="13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B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not move it</a:t>
            </a:r>
            <a:endParaRPr lang="en-US" sz="1300" dirty="0"/>
          </a:p>
          <a:p>
            <a:pPr algn="l" indent="0" marL="0">
              <a:buNone/>
            </a:pPr>
            <a:r>
              <a:rPr lang="en-US" sz="66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$157</a:t>
            </a:r>
            <a:endParaRPr lang="en-US" sz="1300" dirty="0"/>
          </a:p>
        </p:txBody>
      </p:sp>
      <p:sp>
        <p:nvSpPr>
          <p:cNvPr id="5" name="Fix 2"/>
          <p:cNvSpPr txBox="1"/>
          <p:nvPr/>
        </p:nvSpPr>
        <p:spPr>
          <a:xfrm rot="60000">
            <a:off x="4427068" y="2331720"/>
            <a:ext cx="3337560" cy="2743200"/>
          </a:xfrm>
          <a:prstGeom prst="roundRect">
            <a:avLst>
              <a:gd name="adj" fmla="val 10000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t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6B6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2</a:t>
            </a:r>
            <a:endParaRPr lang="en-US" sz="13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agency</a:t>
            </a:r>
            <a:endParaRPr lang="en-US" sz="13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B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brought it to</a:t>
            </a:r>
            <a:endParaRPr lang="en-US" sz="1300" dirty="0"/>
          </a:p>
          <a:p>
            <a:pPr algn="l" indent="0" marL="0">
              <a:buNone/>
            </a:pPr>
            <a:r>
              <a:rPr lang="en-US" sz="66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</a:t>
            </a:r>
            <a:endParaRPr lang="en-US" sz="1300" dirty="0"/>
          </a:p>
        </p:txBody>
      </p:sp>
      <p:sp>
        <p:nvSpPr>
          <p:cNvPr id="6" name="Fix 3"/>
          <p:cNvSpPr txBox="1"/>
          <p:nvPr/>
        </p:nvSpPr>
        <p:spPr>
          <a:xfrm rot="-60000">
            <a:off x="8168335" y="2331720"/>
            <a:ext cx="3337560" cy="2743200"/>
          </a:xfrm>
          <a:prstGeom prst="roundRect">
            <a:avLst>
              <a:gd name="adj" fmla="val 10000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t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6B6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3</a:t>
            </a:r>
            <a:endParaRPr lang="en-US" sz="13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budget</a:t>
            </a:r>
            <a:endParaRPr lang="en-US" sz="13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B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pushed it to</a:t>
            </a:r>
            <a:endParaRPr lang="en-US" sz="1300" dirty="0"/>
          </a:p>
          <a:p>
            <a:pPr algn="l" indent="0" marL="0">
              <a:buNone/>
            </a:pPr>
            <a:r>
              <a:rPr lang="en-US" sz="66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$198</a:t>
            </a:r>
            <a:endParaRPr lang="en-US" sz="1300" dirty="0"/>
          </a:p>
        </p:txBody>
      </p:sp>
      <p:sp>
        <p:nvSpPr>
          <p:cNvPr id="7" name="Footer"/>
          <p:cNvSpPr txBox="1"/>
          <p:nvPr/>
        </p:nvSpPr>
        <p:spPr>
          <a:xfrm>
            <a:off x="685800" y="562356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161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CUSTOMER, MORE MONEY</a:t>
            </a:r>
            <a:endParaRPr lang="en-US" sz="13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2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2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2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2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ads were never the problem.</a:t>
            </a:r>
            <a:endParaRPr lang="en-US" sz="5000" dirty="0"/>
          </a:p>
        </p:txBody>
      </p:sp>
      <p:sp>
        <p:nvSpPr>
          <p:cNvPr id="4" name="Underline"/>
          <p:cNvSpPr/>
          <p:nvPr/>
        </p:nvSpPr>
        <p:spPr>
          <a:xfrm>
            <a:off x="4882896" y="1783080"/>
            <a:ext cx="1691640" cy="109728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/>
        </p:spPr>
      </p:sp>
      <p:sp>
        <p:nvSpPr>
          <p:cNvPr id="5" name="Tag"/>
          <p:cNvSpPr txBox="1"/>
          <p:nvPr/>
        </p:nvSpPr>
        <p:spPr>
          <a:xfrm>
            <a:off x="685800" y="2514600"/>
            <a:ext cx="49377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161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ONLY QUESTION THAT MATTERS</a:t>
            </a:r>
            <a:endParaRPr lang="en-US" sz="1300" dirty="0"/>
          </a:p>
        </p:txBody>
      </p:sp>
      <p:sp>
        <p:nvSpPr>
          <p:cNvPr id="6" name="Question card"/>
          <p:cNvSpPr/>
          <p:nvPr/>
        </p:nvSpPr>
        <p:spPr>
          <a:xfrm>
            <a:off x="685800" y="3063240"/>
            <a:ext cx="8412480" cy="2514600"/>
          </a:xfrm>
          <a:prstGeom prst="roundRect">
            <a:avLst>
              <a:gd name="adj" fmla="val 10909"/>
            </a:avLst>
          </a:prstGeom>
          <a:solidFill>
            <a:srgbClr val="16131F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sp>
        <p:nvSpPr>
          <p:cNvPr id="7" name="Question"/>
          <p:cNvSpPr txBox="1"/>
          <p:nvPr/>
        </p:nvSpPr>
        <p:spPr>
          <a:xfrm>
            <a:off x="1097280" y="361188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customer actually get?</a:t>
            </a:r>
            <a:endParaRPr lang="en-US" sz="5000" dirty="0"/>
          </a:p>
        </p:txBody>
      </p:sp>
      <p:sp>
        <p:nvSpPr>
          <p:cNvPr id="8" name="Dot 1"/>
          <p:cNvSpPr/>
          <p:nvPr/>
        </p:nvSpPr>
        <p:spPr>
          <a:xfrm>
            <a:off x="1051560" y="3291840"/>
            <a:ext cx="182880" cy="18288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Dot 2"/>
          <p:cNvSpPr/>
          <p:nvPr/>
        </p:nvSpPr>
        <p:spPr>
          <a:xfrm>
            <a:off x="1344168" y="3291840"/>
            <a:ext cx="182880" cy="18288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Dot 3"/>
          <p:cNvSpPr/>
          <p:nvPr/>
        </p:nvSpPr>
        <p:spPr>
          <a:xfrm>
            <a:off x="1636776" y="3291840"/>
            <a:ext cx="182880" cy="182880"/>
          </a:xfrm>
          <a:prstGeom prst="ellipse">
            <a:avLst/>
          </a:prstGeom>
          <a:solidFill>
            <a:srgbClr val="28C840"/>
          </a:solidFill>
          <a:ln/>
        </p:spPr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2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2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iterate type="lt">
                                    <p:tmAbs val="45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they changed </a:t>
            </a:r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sentence.</a:t>
            </a:r>
            <a:endParaRPr lang="en-US" sz="5000" dirty="0"/>
          </a:p>
        </p:txBody>
      </p:sp>
      <p:sp>
        <p:nvSpPr>
          <p:cNvPr id="4" name="Row 1"/>
          <p:cNvSpPr txBox="1"/>
          <p:nvPr/>
        </p:nvSpPr>
        <p:spPr>
          <a:xfrm>
            <a:off x="685800" y="2514600"/>
            <a:ext cx="5852160" cy="786384"/>
          </a:xfrm>
          <a:prstGeom prst="roundRect">
            <a:avLst>
              <a:gd name="adj" fmla="val 23256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116840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product</a:t>
            </a:r>
            <a:endParaRPr lang="en-US" sz="3000" dirty="0"/>
          </a:p>
        </p:txBody>
      </p:sp>
      <p:sp>
        <p:nvSpPr>
          <p:cNvPr id="5" name="Tick 1"/>
          <p:cNvSpPr txBox="1"/>
          <p:nvPr/>
        </p:nvSpPr>
        <p:spPr>
          <a:xfrm>
            <a:off x="886968" y="265176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6" name="Row 2"/>
          <p:cNvSpPr txBox="1"/>
          <p:nvPr/>
        </p:nvSpPr>
        <p:spPr>
          <a:xfrm>
            <a:off x="685800" y="3502152"/>
            <a:ext cx="5852160" cy="786384"/>
          </a:xfrm>
          <a:prstGeom prst="roundRect">
            <a:avLst>
              <a:gd name="adj" fmla="val 23256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116840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audience</a:t>
            </a:r>
            <a:endParaRPr lang="en-US" sz="3000" dirty="0"/>
          </a:p>
        </p:txBody>
      </p:sp>
      <p:sp>
        <p:nvSpPr>
          <p:cNvPr id="7" name="Tick 2"/>
          <p:cNvSpPr txBox="1"/>
          <p:nvPr/>
        </p:nvSpPr>
        <p:spPr>
          <a:xfrm>
            <a:off x="886968" y="3639312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8" name="Row 3"/>
          <p:cNvSpPr txBox="1"/>
          <p:nvPr/>
        </p:nvSpPr>
        <p:spPr>
          <a:xfrm>
            <a:off x="685800" y="4489704"/>
            <a:ext cx="5852160" cy="786384"/>
          </a:xfrm>
          <a:prstGeom prst="roundRect">
            <a:avLst>
              <a:gd name="adj" fmla="val 23256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116840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budget</a:t>
            </a:r>
            <a:endParaRPr lang="en-US" sz="3000" dirty="0"/>
          </a:p>
        </p:txBody>
      </p:sp>
      <p:sp>
        <p:nvSpPr>
          <p:cNvPr id="9" name="Tick 3"/>
          <p:cNvSpPr txBox="1"/>
          <p:nvPr/>
        </p:nvSpPr>
        <p:spPr>
          <a:xfrm>
            <a:off x="886968" y="4626864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0" name="One"/>
          <p:cNvSpPr txBox="1"/>
          <p:nvPr/>
        </p:nvSpPr>
        <p:spPr>
          <a:xfrm rot="180000">
            <a:off x="7452360" y="2377440"/>
            <a:ext cx="4023360" cy="3200400"/>
          </a:xfrm>
          <a:prstGeom prst="roundRect">
            <a:avLst>
              <a:gd name="adj" fmla="val 8571"/>
            </a:avLst>
          </a:prstGeom>
          <a:solidFill>
            <a:srgbClr val="16131F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changed</a:t>
            </a:r>
            <a:endParaRPr lang="en-US" sz="150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2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2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25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7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g"/>
          <p:cNvSpPr txBox="1"/>
          <p:nvPr/>
        </p:nvSpPr>
        <p:spPr>
          <a:xfrm>
            <a:off x="685800" y="822960"/>
            <a:ext cx="3035808" cy="384048"/>
          </a:xfrm>
          <a:prstGeom prst="roundRect">
            <a:avLst>
              <a:gd name="adj" fmla="val 50000"/>
            </a:avLst>
          </a:prstGeom>
          <a:solidFill>
            <a:srgbClr val="1613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PER CUSTOMER</a:t>
            </a:r>
            <a:endParaRPr lang="en-US" sz="1300" dirty="0"/>
          </a:p>
        </p:txBody>
      </p:sp>
      <p:sp>
        <p:nvSpPr>
          <p:cNvPr id="4" name="Value 0"/>
          <p:cNvSpPr txBox="1"/>
          <p:nvPr/>
        </p:nvSpPr>
        <p:spPr>
          <a:xfrm>
            <a:off x="594360" y="132588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0" b="1" spc="-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$157</a:t>
            </a:r>
            <a:endParaRPr lang="en-US" sz="21000" dirty="0"/>
          </a:p>
        </p:txBody>
      </p:sp>
      <p:sp>
        <p:nvSpPr>
          <p:cNvPr id="5" name="Chip 0"/>
          <p:cNvSpPr txBox="1"/>
          <p:nvPr/>
        </p:nvSpPr>
        <p:spPr>
          <a:xfrm>
            <a:off x="685800" y="4343400"/>
            <a:ext cx="1417320" cy="640080"/>
          </a:xfrm>
          <a:prstGeom prst="roundRect">
            <a:avLst>
              <a:gd name="adj" fmla="val 25714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$157</a:t>
            </a:r>
            <a:endParaRPr lang="en-US" sz="2400" dirty="0"/>
          </a:p>
        </p:txBody>
      </p:sp>
      <p:sp>
        <p:nvSpPr>
          <p:cNvPr id="6" name="Strike 0"/>
          <p:cNvSpPr/>
          <p:nvPr/>
        </p:nvSpPr>
        <p:spPr>
          <a:xfrm>
            <a:off x="868680" y="4663440"/>
            <a:ext cx="105156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7" name="Value 1"/>
          <p:cNvSpPr txBox="1"/>
          <p:nvPr/>
        </p:nvSpPr>
        <p:spPr>
          <a:xfrm>
            <a:off x="594360" y="132588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0" b="1" spc="-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</a:t>
            </a:r>
            <a:endParaRPr lang="en-US" sz="21000" dirty="0"/>
          </a:p>
        </p:txBody>
      </p:sp>
      <p:sp>
        <p:nvSpPr>
          <p:cNvPr id="8" name="Chip 1"/>
          <p:cNvSpPr txBox="1"/>
          <p:nvPr/>
        </p:nvSpPr>
        <p:spPr>
          <a:xfrm>
            <a:off x="2286000" y="4343400"/>
            <a:ext cx="1417320" cy="640080"/>
          </a:xfrm>
          <a:prstGeom prst="roundRect">
            <a:avLst>
              <a:gd name="adj" fmla="val 25714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</a:t>
            </a:r>
            <a:endParaRPr lang="en-US" sz="2400" dirty="0"/>
          </a:p>
        </p:txBody>
      </p:sp>
      <p:sp>
        <p:nvSpPr>
          <p:cNvPr id="9" name="Strike 1"/>
          <p:cNvSpPr/>
          <p:nvPr/>
        </p:nvSpPr>
        <p:spPr>
          <a:xfrm>
            <a:off x="2468880" y="4663440"/>
            <a:ext cx="105156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0" name="Value 2"/>
          <p:cNvSpPr txBox="1"/>
          <p:nvPr/>
        </p:nvSpPr>
        <p:spPr>
          <a:xfrm>
            <a:off x="594360" y="132588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0" b="1" spc="-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</a:t>
            </a:r>
            <a:endParaRPr lang="en-US" sz="21000" dirty="0"/>
          </a:p>
        </p:txBody>
      </p:sp>
      <p:sp>
        <p:nvSpPr>
          <p:cNvPr id="11" name="Chip 2"/>
          <p:cNvSpPr txBox="1"/>
          <p:nvPr/>
        </p:nvSpPr>
        <p:spPr>
          <a:xfrm>
            <a:off x="3886200" y="4343400"/>
            <a:ext cx="1417320" cy="640080"/>
          </a:xfrm>
          <a:prstGeom prst="roundRect">
            <a:avLst>
              <a:gd name="adj" fmla="val 25714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</a:t>
            </a:r>
            <a:endParaRPr lang="en-US" sz="2400" dirty="0"/>
          </a:p>
        </p:txBody>
      </p:sp>
      <p:sp>
        <p:nvSpPr>
          <p:cNvPr id="12" name="Strike 2"/>
          <p:cNvSpPr/>
          <p:nvPr/>
        </p:nvSpPr>
        <p:spPr>
          <a:xfrm>
            <a:off x="4069080" y="4663440"/>
            <a:ext cx="105156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3" name="Value 3"/>
          <p:cNvSpPr txBox="1"/>
          <p:nvPr/>
        </p:nvSpPr>
        <p:spPr>
          <a:xfrm>
            <a:off x="594360" y="132588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0" b="1" spc="-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$3.58</a:t>
            </a:r>
            <a:endParaRPr lang="en-US" sz="21000" dirty="0"/>
          </a:p>
        </p:txBody>
      </p:sp>
      <p:sp>
        <p:nvSpPr>
          <p:cNvPr id="14" name="Chip 3"/>
          <p:cNvSpPr txBox="1"/>
          <p:nvPr/>
        </p:nvSpPr>
        <p:spPr>
          <a:xfrm>
            <a:off x="5486400" y="4343400"/>
            <a:ext cx="1417320" cy="640080"/>
          </a:xfrm>
          <a:prstGeom prst="roundRect">
            <a:avLst>
              <a:gd name="adj" fmla="val 25714"/>
            </a:avLst>
          </a:prstGeom>
          <a:solidFill>
            <a:srgbClr val="FFC9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$3.58</a:t>
            </a:r>
            <a:endParaRPr lang="en-US" sz="2400" dirty="0"/>
          </a:p>
        </p:txBody>
      </p:sp>
      <p:sp>
        <p:nvSpPr>
          <p:cNvPr id="15" name="Footer"/>
          <p:cNvSpPr txBox="1"/>
          <p:nvPr/>
        </p:nvSpPr>
        <p:spPr>
          <a:xfrm>
            <a:off x="685800" y="5349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</a:t>
            </a:r>
            <a:pPr indent="0" marL="0">
              <a:buNone/>
            </a:pPr>
            <a:r>
              <a:rPr lang="en-US" sz="4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sentence.</a:t>
            </a:r>
            <a:endParaRPr lang="en-US" sz="44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22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2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2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25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22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225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225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25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4" grpId="1" animBg="1"/>
      <p:bldP spid="7" grpId="0" animBg="1"/>
      <p:bldP spid="6" grpId="0" animBg="1"/>
      <p:bldP spid="8" grpId="0" animBg="1"/>
      <p:bldP spid="7" grpId="1" animBg="1"/>
      <p:bldP spid="10" grpId="0" animBg="1"/>
      <p:bldP spid="9" grpId="0" animBg="1"/>
      <p:bldP spid="11" grpId="0" animBg="1"/>
      <p:bldP spid="10" grpId="1" animBg="1"/>
      <p:bldP spid="13" grpId="0" animBg="1"/>
      <p:bldP spid="12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Picture a man staring at </a:t>
            </a:r>
            <a:pPr algn="l" indent="0" marL="0">
              <a:buNone/>
            </a:pPr>
            <a:r>
              <a:rPr lang="en-US" sz="5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drills.</a:t>
            </a:r>
            <a:endParaRPr lang="en-US" sz="5000" dirty="0"/>
          </a:p>
        </p:txBody>
      </p:sp>
      <p:sp>
        <p:nvSpPr>
          <p:cNvPr id="4" name="Drill 1"/>
          <p:cNvSpPr txBox="1"/>
          <p:nvPr/>
        </p:nvSpPr>
        <p:spPr>
          <a:xfrm rot="-180000">
            <a:off x="685800" y="2423160"/>
            <a:ext cx="3108960" cy="2926080"/>
          </a:xfrm>
          <a:prstGeom prst="roundRect">
            <a:avLst>
              <a:gd name="adj" fmla="val 9375"/>
            </a:avLst>
          </a:prstGeom>
          <a:solidFill>
            <a:srgbClr val="16131F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0" dirty="0"/>
          </a:p>
          <a:p>
            <a:pPr algn="ctr" indent="0" marL="0">
              <a:buNone/>
            </a:pPr>
            <a:r>
              <a:rPr lang="en-US" sz="1400" spc="300" kern="0" dirty="0">
                <a:solidFill>
                  <a:srgbClr val="BD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DRILL 1</a:t>
            </a:r>
            <a:endParaRPr lang="en-US" sz="11000" dirty="0"/>
          </a:p>
        </p:txBody>
      </p:sp>
      <p:sp>
        <p:nvSpPr>
          <p:cNvPr id="5" name="Drill 2"/>
          <p:cNvSpPr txBox="1"/>
          <p:nvPr/>
        </p:nvSpPr>
        <p:spPr>
          <a:xfrm rot="120000">
            <a:off x="4541368" y="2423160"/>
            <a:ext cx="3108960" cy="2926080"/>
          </a:xfrm>
          <a:prstGeom prst="roundRect">
            <a:avLst>
              <a:gd name="adj" fmla="val 9375"/>
            </a:avLst>
          </a:prstGeom>
          <a:solidFill>
            <a:srgbClr val="16131F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0" dirty="0"/>
          </a:p>
          <a:p>
            <a:pPr algn="ctr" indent="0" marL="0">
              <a:buNone/>
            </a:pPr>
            <a:r>
              <a:rPr lang="en-US" sz="1400" spc="300" kern="0" dirty="0">
                <a:solidFill>
                  <a:srgbClr val="BD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DRILL 2</a:t>
            </a:r>
            <a:endParaRPr lang="en-US" sz="11000" dirty="0"/>
          </a:p>
        </p:txBody>
      </p:sp>
      <p:sp>
        <p:nvSpPr>
          <p:cNvPr id="6" name="Drill 3"/>
          <p:cNvSpPr txBox="1"/>
          <p:nvPr/>
        </p:nvSpPr>
        <p:spPr>
          <a:xfrm rot="-60000">
            <a:off x="8396935" y="2423160"/>
            <a:ext cx="3108960" cy="2926080"/>
          </a:xfrm>
          <a:prstGeom prst="roundRect">
            <a:avLst>
              <a:gd name="adj" fmla="val 9375"/>
            </a:avLst>
          </a:prstGeom>
          <a:solidFill>
            <a:srgbClr val="16131F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0" dirty="0"/>
          </a:p>
          <a:p>
            <a:pPr algn="ctr" indent="0" marL="0">
              <a:buNone/>
            </a:pPr>
            <a:r>
              <a:rPr lang="en-US" sz="1400" spc="300" kern="0" dirty="0">
                <a:solidFill>
                  <a:srgbClr val="BD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DRILL 3</a:t>
            </a:r>
            <a:endParaRPr lang="en-US" sz="11000" dirty="0"/>
          </a:p>
        </p:txBody>
      </p:sp>
      <p:sp>
        <p:nvSpPr>
          <p:cNvPr id="7" name="Footer"/>
          <p:cNvSpPr txBox="1"/>
          <p:nvPr/>
        </p:nvSpPr>
        <p:spPr>
          <a:xfrm>
            <a:off x="685800" y="5760720"/>
            <a:ext cx="4498848" cy="384048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161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 IS NOT READING THE BOXES</a:t>
            </a:r>
            <a:endParaRPr lang="en-US" sz="13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2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2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2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2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is not buying </a:t>
            </a:r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drill.</a:t>
            </a:r>
            <a:endParaRPr lang="en-US" sz="5000" dirty="0"/>
          </a:p>
        </p:txBody>
      </p:sp>
      <p:sp>
        <p:nvSpPr>
          <p:cNvPr id="4" name="Buying"/>
          <p:cNvSpPr txBox="1"/>
          <p:nvPr/>
        </p:nvSpPr>
        <p:spPr>
          <a:xfrm>
            <a:off x="685800" y="2240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is buying:</a:t>
            </a:r>
            <a:endParaRPr lang="en-US" sz="2600" dirty="0"/>
          </a:p>
        </p:txBody>
      </p:sp>
      <p:sp>
        <p:nvSpPr>
          <p:cNvPr id="5" name="Row 1"/>
          <p:cNvSpPr txBox="1"/>
          <p:nvPr/>
        </p:nvSpPr>
        <p:spPr>
          <a:xfrm>
            <a:off x="685800" y="2926080"/>
            <a:ext cx="6035040" cy="749808"/>
          </a:xfrm>
          <a:prstGeom prst="roundRect">
            <a:avLst>
              <a:gd name="adj" fmla="val 24390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116840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garage</a:t>
            </a:r>
            <a:endParaRPr lang="en-US" sz="2800" dirty="0"/>
          </a:p>
        </p:txBody>
      </p:sp>
      <p:sp>
        <p:nvSpPr>
          <p:cNvPr id="6" name="Tick 1"/>
          <p:cNvSpPr txBox="1"/>
          <p:nvPr/>
        </p:nvSpPr>
        <p:spPr>
          <a:xfrm>
            <a:off x="886968" y="3054096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7" name="Row 2"/>
          <p:cNvSpPr txBox="1"/>
          <p:nvPr/>
        </p:nvSpPr>
        <p:spPr>
          <a:xfrm>
            <a:off x="685800" y="3858768"/>
            <a:ext cx="6035040" cy="749808"/>
          </a:xfrm>
          <a:prstGeom prst="roundRect">
            <a:avLst>
              <a:gd name="adj" fmla="val 24390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116840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shelf finally level</a:t>
            </a:r>
            <a:endParaRPr lang="en-US" sz="2800" dirty="0"/>
          </a:p>
        </p:txBody>
      </p:sp>
      <p:sp>
        <p:nvSpPr>
          <p:cNvPr id="8" name="Tick 2"/>
          <p:cNvSpPr txBox="1"/>
          <p:nvPr/>
        </p:nvSpPr>
        <p:spPr>
          <a:xfrm>
            <a:off x="886968" y="3986784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9" name="Row 3"/>
          <p:cNvSpPr txBox="1"/>
          <p:nvPr/>
        </p:nvSpPr>
        <p:spPr>
          <a:xfrm>
            <a:off x="685800" y="4791456"/>
            <a:ext cx="6035040" cy="749808"/>
          </a:xfrm>
          <a:prstGeom prst="roundRect">
            <a:avLst>
              <a:gd name="adj" fmla="val 24390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116840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job done</a:t>
            </a:r>
            <a:endParaRPr lang="en-US" sz="2800" dirty="0"/>
          </a:p>
        </p:txBody>
      </p:sp>
      <p:sp>
        <p:nvSpPr>
          <p:cNvPr id="10" name="Tick 3"/>
          <p:cNvSpPr txBox="1"/>
          <p:nvPr/>
        </p:nvSpPr>
        <p:spPr>
          <a:xfrm>
            <a:off x="886968" y="4919472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1" name="Tool"/>
          <p:cNvSpPr txBox="1"/>
          <p:nvPr/>
        </p:nvSpPr>
        <p:spPr>
          <a:xfrm rot="180000">
            <a:off x="7498080" y="2743200"/>
            <a:ext cx="3977640" cy="2377440"/>
          </a:xfrm>
          <a:prstGeom prst="roundRect">
            <a:avLst>
              <a:gd name="adj" fmla="val 11538"/>
            </a:avLst>
          </a:prstGeom>
          <a:solidFill>
            <a:srgbClr val="16131F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304800" tIns="406400" rIns="406400" bIns="3048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drill is just</a:t>
            </a:r>
            <a:endParaRPr lang="en-US" sz="30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tool.</a:t>
            </a:r>
            <a:endParaRPr lang="en-US" sz="30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2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25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2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275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buys a ride </a:t>
            </a:r>
            <a:pPr algn="l" indent="0" marL="0">
              <a:buNone/>
            </a:pPr>
            <a:r>
              <a:rPr lang="en-US" sz="5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taxi.</a:t>
            </a:r>
            <a:endParaRPr lang="en-US" sz="5000" dirty="0"/>
          </a:p>
        </p:txBody>
      </p:sp>
      <p:sp>
        <p:nvSpPr>
          <p:cNvPr id="4" name="Home"/>
          <p:cNvSpPr txBox="1"/>
          <p:nvPr/>
        </p:nvSpPr>
        <p:spPr>
          <a:xfrm rot="-120000">
            <a:off x="685800" y="2514600"/>
            <a:ext cx="5029200" cy="2377440"/>
          </a:xfrm>
          <a:prstGeom prst="roundRect">
            <a:avLst>
              <a:gd name="adj" fmla="val 11538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304800" tIns="431800" rIns="431800" bIns="304800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6B6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THEY ARE BUYING</a:t>
            </a:r>
            <a:endParaRPr lang="en-US" sz="14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ride home.</a:t>
            </a:r>
            <a:endParaRPr lang="en-US" sz="1400" dirty="0"/>
          </a:p>
        </p:txBody>
      </p:sp>
      <p:sp>
        <p:nvSpPr>
          <p:cNvPr id="5" name="Identity"/>
          <p:cNvSpPr txBox="1"/>
          <p:nvPr/>
        </p:nvSpPr>
        <p:spPr>
          <a:xfrm rot="120000">
            <a:off x="6172200" y="3063240"/>
            <a:ext cx="5349240" cy="2514600"/>
          </a:xfrm>
          <a:prstGeom prst="roundRect">
            <a:avLst>
              <a:gd name="adj" fmla="val 10909"/>
            </a:avLst>
          </a:prstGeom>
          <a:solidFill>
            <a:srgbClr val="16131F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304800" tIns="431800" rIns="431800" bIns="30480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BD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NOBODY BUYS YOUR SERVICE FOR THE SERVICE</a:t>
            </a:r>
            <a:endParaRPr lang="en-US" sz="13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buying the </a:t>
            </a:r>
            <a:pPr algn="l" indent="0" marL="0">
              <a:buNone/>
            </a:pPr>
            <a:r>
              <a:rPr lang="en-US" sz="3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hand them.</a:t>
            </a:r>
            <a:endParaRPr lang="en-US" sz="13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2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2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" grpId="0" animBg="1"/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asks </a:t>
            </a:r>
            <a:pPr algn="l" indent="0" marL="0">
              <a:buNone/>
            </a:pPr>
            <a:r>
              <a:rPr lang="en-US" sz="5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price.</a:t>
            </a:r>
            <a:endParaRPr lang="en-US" sz="5000" dirty="0"/>
          </a:p>
        </p:txBody>
      </p:sp>
      <p:sp>
        <p:nvSpPr>
          <p:cNvPr id="4" name="Pause"/>
          <p:cNvSpPr txBox="1"/>
          <p:nvPr/>
        </p:nvSpPr>
        <p:spPr>
          <a:xfrm rot="-180000">
            <a:off x="685800" y="2377440"/>
            <a:ext cx="3291840" cy="3108960"/>
          </a:xfrm>
          <a:prstGeom prst="roundRect">
            <a:avLst>
              <a:gd name="adj" fmla="val 8824"/>
            </a:avLst>
          </a:prstGeom>
          <a:solidFill>
            <a:srgbClr val="16131F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</a:t>
            </a:r>
            <a:endParaRPr lang="en-US" sz="120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go quiet.</a:t>
            </a:r>
            <a:endParaRPr lang="en-US" sz="12000" dirty="0"/>
          </a:p>
        </p:txBody>
      </p:sp>
      <p:sp>
        <p:nvSpPr>
          <p:cNvPr id="5" name="Discount"/>
          <p:cNvSpPr txBox="1"/>
          <p:nvPr/>
        </p:nvSpPr>
        <p:spPr>
          <a:xfrm>
            <a:off x="4434840" y="2377440"/>
            <a:ext cx="7086600" cy="1417320"/>
          </a:xfrm>
          <a:prstGeom prst="roundRect">
            <a:avLst>
              <a:gd name="adj" fmla="val 16129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6B6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MOST PEOPLE DO</a:t>
            </a:r>
            <a:endParaRPr lang="en-US" sz="13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silence with a </a:t>
            </a:r>
            <a:pPr algn="l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discount.</a:t>
            </a:r>
            <a:endParaRPr lang="en-US" sz="1300" dirty="0"/>
          </a:p>
        </p:txBody>
      </p:sp>
      <p:sp>
        <p:nvSpPr>
          <p:cNvPr id="6" name="Instead"/>
          <p:cNvSpPr txBox="1"/>
          <p:nvPr/>
        </p:nvSpPr>
        <p:spPr>
          <a:xfrm>
            <a:off x="4434840" y="4023360"/>
            <a:ext cx="7086600" cy="1600200"/>
          </a:xfrm>
          <a:prstGeom prst="roundRect">
            <a:avLst>
              <a:gd name="adj" fmla="val 14286"/>
            </a:avLst>
          </a:prstGeom>
          <a:solidFill>
            <a:srgbClr val="FFC93C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161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INSTEAD</a:t>
            </a:r>
            <a:endParaRPr lang="en-US" sz="13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pause with the transformation and the discount never comes up.</a:t>
            </a:r>
            <a:endParaRPr lang="en-US" sz="13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2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2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" grpId="0" animBg="1"/>
      <p:bldP spid="4" grpId="0" animBg="1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1051560"/>
            <a:ext cx="108200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transformation </a:t>
            </a:r>
            <a:pPr algn="l" indent="0" marL="0">
              <a:buNone/>
            </a:pPr>
            <a:r>
              <a:rPr lang="en-US" sz="50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buying.</a:t>
            </a:r>
            <a:endParaRPr lang="en-US" sz="5000" dirty="0"/>
          </a:p>
        </p:txBody>
      </p:sp>
      <p:sp>
        <p:nvSpPr>
          <p:cNvPr id="4" name="Then"/>
          <p:cNvSpPr txBox="1"/>
          <p:nvPr/>
        </p:nvSpPr>
        <p:spPr>
          <a:xfrm>
            <a:off x="68580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make it show in</a:t>
            </a:r>
            <a:endParaRPr lang="en-US" sz="2600" dirty="0"/>
          </a:p>
        </p:txBody>
      </p:sp>
      <p:sp>
        <p:nvSpPr>
          <p:cNvPr id="5" name="Every 1"/>
          <p:cNvSpPr txBox="1"/>
          <p:nvPr/>
        </p:nvSpPr>
        <p:spPr>
          <a:xfrm rot="-120000">
            <a:off x="685800" y="3474720"/>
            <a:ext cx="2971800" cy="1005840"/>
          </a:xfrm>
          <a:prstGeom prst="roundRect">
            <a:avLst>
              <a:gd name="adj" fmla="val 22727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page</a:t>
            </a:r>
            <a:endParaRPr lang="en-US" sz="3200" dirty="0"/>
          </a:p>
        </p:txBody>
      </p:sp>
      <p:sp>
        <p:nvSpPr>
          <p:cNvPr id="6" name="Every 2"/>
          <p:cNvSpPr txBox="1"/>
          <p:nvPr/>
        </p:nvSpPr>
        <p:spPr>
          <a:xfrm rot="60000">
            <a:off x="3931920" y="3474720"/>
            <a:ext cx="2971800" cy="1005840"/>
          </a:xfrm>
          <a:prstGeom prst="roundRect">
            <a:avLst>
              <a:gd name="adj" fmla="val 22727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price</a:t>
            </a:r>
            <a:endParaRPr lang="en-US" sz="3200" dirty="0"/>
          </a:p>
        </p:txBody>
      </p:sp>
      <p:sp>
        <p:nvSpPr>
          <p:cNvPr id="7" name="Every 3"/>
          <p:cNvSpPr txBox="1"/>
          <p:nvPr/>
        </p:nvSpPr>
        <p:spPr>
          <a:xfrm rot="-60000">
            <a:off x="7178040" y="3474720"/>
            <a:ext cx="2971800" cy="1005840"/>
          </a:xfrm>
          <a:prstGeom prst="roundRect">
            <a:avLst>
              <a:gd name="adj" fmla="val 22727"/>
            </a:avLst>
          </a:prstGeom>
          <a:solidFill>
            <a:srgbClr val="FFFAF2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word</a:t>
            </a:r>
            <a:endParaRPr lang="en-US" sz="3200" dirty="0"/>
          </a:p>
        </p:txBody>
      </p:sp>
      <p:sp>
        <p:nvSpPr>
          <p:cNvPr id="8" name="Badge"/>
          <p:cNvSpPr txBox="1"/>
          <p:nvPr/>
        </p:nvSpPr>
        <p:spPr>
          <a:xfrm rot="-180000">
            <a:off x="685800" y="4937760"/>
            <a:ext cx="5120640" cy="1325880"/>
          </a:xfrm>
          <a:prstGeom prst="roundRect">
            <a:avLst>
              <a:gd name="adj" fmla="val 24138"/>
            </a:avLst>
          </a:prstGeom>
          <a:solidFill>
            <a:srgbClr val="FFC93C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  <p:txBody>
          <a:bodyPr wrap="square" lIns="228600" tIns="279400" rIns="279400" bIns="22860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61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WIN-WIN</a:t>
            </a:r>
            <a:endParaRPr lang="en-US" sz="66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8"/>
                                          </p:val>
                                        </p:tav>
                                        <p:tav tm="80000">
                                          <p:val>
                                            <p:strVal val="#ppt_y-0.0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2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2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2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0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the worse product keeps winning</dc:title>
  <dc:subject>PptxGenJS Presentation</dc:subject>
  <dc:creator>PptxGenJS</dc:creator>
  <cp:lastModifiedBy>PptxGenJS</cp:lastModifiedBy>
  <cp:revision>1</cp:revision>
  <dcterms:created xsi:type="dcterms:W3CDTF">2026-10-13T18:31:18Z</dcterms:created>
  <dcterms:modified xsi:type="dcterms:W3CDTF">2026-10-13T18:31:18Z</dcterms:modified>
</cp:coreProperties>
</file>