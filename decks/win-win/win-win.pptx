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people never work out why the worse product keeps winning.
Click 1: It is not price.  Click 2: It is not quality.  Click 3: it's the transformation.
Click 4: People buy the transformation your product really gives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157 dollars to get one customer.
Click 1: $157.  Click 2: to get one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fixes, three worse numbers.
Click 1: New creative did not move it.  Click 2: A cheaper agency brought it to 120.
Click 3: More budget pushed it to 198.  Click 4: Same customer, more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fixes, three worse numbers, because the ads were never the problem.
Click 1: never.  Click 2: Nobody asked the only question that matters.  Click 3: what does the customer actually 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they changed one sentence.
Clicks 1–3: Same product. Same audience. Same budget.
Click 4: only the sentence changed.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product. Same audience. Same budget.
Click 1: 157.  Click 2: 42.  Click 3: 18.  Click 4: 3.58.  Click 5: from one sentence.
Note: the Short gives these numbers without a label; 'cost per customer' is inferred from the title (157 dollars to 3.58).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Picture a man in a hardware store staring at three drills.
Clicks 1–3: the drills.  Click 4: He is not reading the boxes.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 is not buying the drill.
Click 1: He is buying:  Clicks 2–4: his garage, the shelf finally level, and the job done.
Click 5: The drill is just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Nobody buys a ride in the taxi.
Click 1: They are buying a ride home.
Click 2: Nobody buys your service for the service.  Click 3: They are buying the identity you hand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a two second pause that costs business owners more money than any competitor.
Click 1: They go quiet.  Click 2: And you fill the silence with a discount.  Click 3: not that.
Click 4: Fill the pause with the transformation and the discount never comes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People buy the transformation your product really gives them.
Click 1: then make it show.  Clicks 2–4: every page, every price and every word.
Click 5: WIN-WIN.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ora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ral-title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blue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blue-title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purple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purple-title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amber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amber-title-image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green-image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green-title-image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teal-image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teal-title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ral-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ue-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rple-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mb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mber-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een-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al-titl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g"/>
          <p:cNvSpPr txBox="1"/>
          <p:nvPr/>
        </p:nvSpPr>
        <p:spPr>
          <a:xfrm>
            <a:off x="685800" y="50292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161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WIN-WIN</a:t>
            </a:r>
            <a:endParaRPr lang="en-US" sz="1300" dirty="0"/>
          </a:p>
        </p:txBody>
      </p:sp>
      <p:sp>
        <p:nvSpPr>
          <p:cNvPr id="4" name="Headline"/>
          <p:cNvSpPr txBox="1"/>
          <p:nvPr/>
        </p:nvSpPr>
        <p:spPr>
          <a:xfrm>
            <a:off x="685800" y="114300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the </a:t>
            </a:r>
            <a:pPr indent="0" marL="0">
              <a:buNone/>
            </a:pPr>
            <a:r>
              <a:rPr lang="en-US" sz="58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worse product</a:t>
            </a:r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keeps winning</a:t>
            </a:r>
            <a:endParaRPr lang="en-US" sz="5800" dirty="0"/>
          </a:p>
        </p:txBody>
      </p:sp>
      <p:sp>
        <p:nvSpPr>
          <p:cNvPr id="5" name="Price"/>
          <p:cNvSpPr txBox="1"/>
          <p:nvPr/>
        </p:nvSpPr>
        <p:spPr>
          <a:xfrm rot="-360000">
            <a:off x="7086600" y="914400"/>
            <a:ext cx="2743200" cy="1737360"/>
          </a:xfrm>
          <a:prstGeom prst="roundRect">
            <a:avLst>
              <a:gd name="adj" fmla="val 15789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3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price.</a:t>
            </a:r>
            <a:endParaRPr lang="en-US" sz="3400" dirty="0"/>
          </a:p>
        </p:txBody>
      </p:sp>
      <p:sp>
        <p:nvSpPr>
          <p:cNvPr id="6" name="Price X"/>
          <p:cNvSpPr txBox="1"/>
          <p:nvPr/>
        </p:nvSpPr>
        <p:spPr>
          <a:xfrm>
            <a:off x="9235440" y="685800"/>
            <a:ext cx="685800" cy="685800"/>
          </a:xfrm>
          <a:prstGeom prst="ellipse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✕</a:t>
            </a:r>
            <a:endParaRPr lang="en-US" sz="2400" dirty="0"/>
          </a:p>
        </p:txBody>
      </p:sp>
      <p:sp>
        <p:nvSpPr>
          <p:cNvPr id="7" name="Quality"/>
          <p:cNvSpPr txBox="1"/>
          <p:nvPr/>
        </p:nvSpPr>
        <p:spPr>
          <a:xfrm rot="240000">
            <a:off x="8732520" y="1417320"/>
            <a:ext cx="2743200" cy="1737360"/>
          </a:xfrm>
          <a:prstGeom prst="roundRect">
            <a:avLst>
              <a:gd name="adj" fmla="val 15789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</a:t>
            </a:r>
            <a:endParaRPr lang="en-US" sz="34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quality.</a:t>
            </a:r>
            <a:endParaRPr lang="en-US" sz="3400" dirty="0"/>
          </a:p>
        </p:txBody>
      </p:sp>
      <p:sp>
        <p:nvSpPr>
          <p:cNvPr id="8" name="Quality X"/>
          <p:cNvSpPr txBox="1"/>
          <p:nvPr/>
        </p:nvSpPr>
        <p:spPr>
          <a:xfrm>
            <a:off x="10881360" y="1188720"/>
            <a:ext cx="685800" cy="685800"/>
          </a:xfrm>
          <a:prstGeom prst="ellipse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✕</a:t>
            </a:r>
            <a:endParaRPr lang="en-US" sz="2400" dirty="0"/>
          </a:p>
        </p:txBody>
      </p:sp>
      <p:sp>
        <p:nvSpPr>
          <p:cNvPr id="9" name="Transformation"/>
          <p:cNvSpPr txBox="1"/>
          <p:nvPr/>
        </p:nvSpPr>
        <p:spPr>
          <a:xfrm rot="-120000">
            <a:off x="7223760" y="3657600"/>
            <a:ext cx="4297680" cy="1600200"/>
          </a:xfrm>
          <a:prstGeom prst="roundRect">
            <a:avLst>
              <a:gd name="adj" fmla="val 17143"/>
            </a:avLst>
          </a:prstGeom>
          <a:solidFill>
            <a:srgbClr val="FFC93C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transformation</a:t>
            </a:r>
            <a:endParaRPr lang="en-US" sz="36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product really gives them</a:t>
            </a:r>
            <a:endParaRPr lang="en-US" sz="3600" dirty="0"/>
          </a:p>
        </p:txBody>
      </p:sp>
      <p:sp>
        <p:nvSpPr>
          <p:cNvPr id="10" name="Sub"/>
          <p:cNvSpPr txBox="1"/>
          <p:nvPr/>
        </p:nvSpPr>
        <p:spPr>
          <a:xfrm>
            <a:off x="685800" y="443484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buy the transformation your product really gives them.</a:t>
            </a:r>
            <a:endParaRPr lang="en-US" sz="2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animScale>
                                      <p:cBhvr>
                                        <p:cTn id="46" dur="18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2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g"/>
          <p:cNvSpPr txBox="1"/>
          <p:nvPr/>
        </p:nvSpPr>
        <p:spPr>
          <a:xfrm>
            <a:off x="685800" y="914400"/>
            <a:ext cx="3913632" cy="384048"/>
          </a:xfrm>
          <a:prstGeom prst="roundRect">
            <a:avLst>
              <a:gd name="adj" fmla="val 50000"/>
            </a:avLst>
          </a:prstGeom>
          <a:solidFill>
            <a:srgbClr val="161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157 DOLLAR CUSTOMER</a:t>
            </a:r>
            <a:endParaRPr lang="en-US" sz="1300" dirty="0"/>
          </a:p>
        </p:txBody>
      </p:sp>
      <p:sp>
        <p:nvSpPr>
          <p:cNvPr id="4" name="Number"/>
          <p:cNvSpPr txBox="1"/>
          <p:nvPr/>
        </p:nvSpPr>
        <p:spPr>
          <a:xfrm>
            <a:off x="594360" y="150876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0" b="1" spc="-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$157</a:t>
            </a:r>
            <a:endParaRPr lang="en-US" sz="25000" dirty="0"/>
          </a:p>
        </p:txBody>
      </p:sp>
      <p:sp>
        <p:nvSpPr>
          <p:cNvPr id="5" name="Line"/>
          <p:cNvSpPr txBox="1"/>
          <p:nvPr/>
        </p:nvSpPr>
        <p:spPr>
          <a:xfrm>
            <a:off x="685800" y="470916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get </a:t>
            </a:r>
            <a:pPr indent="0" marL="0">
              <a:buNone/>
            </a:pPr>
            <a:r>
              <a:rPr lang="en-US" sz="48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</a:t>
            </a:r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customer.</a:t>
            </a:r>
            <a:endParaRPr lang="en-US" sz="48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mph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animScale>
                                      <p:cBhvr>
                                        <p:cTn id="24" dur="18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</a:t>
            </a:r>
            <a:pPr algn="l" indent="0" marL="0">
              <a:buNone/>
            </a:pPr>
            <a:r>
              <a:rPr lang="en-US" sz="5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fixes.</a:t>
            </a:r>
            <a:endParaRPr lang="en-US" sz="5000" dirty="0"/>
          </a:p>
        </p:txBody>
      </p:sp>
      <p:sp>
        <p:nvSpPr>
          <p:cNvPr id="4" name="Fix 1"/>
          <p:cNvSpPr txBox="1"/>
          <p:nvPr/>
        </p:nvSpPr>
        <p:spPr>
          <a:xfrm rot="-120000">
            <a:off x="685800" y="2331720"/>
            <a:ext cx="3337560" cy="2743200"/>
          </a:xfrm>
          <a:prstGeom prst="roundRect">
            <a:avLst>
              <a:gd name="adj" fmla="val 10000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t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6B6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 1</a:t>
            </a:r>
            <a:endParaRPr lang="en-US" sz="13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creative</a:t>
            </a:r>
            <a:endParaRPr lang="en-US" sz="13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did not move it</a:t>
            </a:r>
            <a:endParaRPr lang="en-US" sz="1300" dirty="0"/>
          </a:p>
          <a:p>
            <a:pPr algn="l" indent="0" marL="0">
              <a:buNone/>
            </a:pPr>
            <a:r>
              <a:rPr lang="en-US" sz="66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$157</a:t>
            </a:r>
            <a:endParaRPr lang="en-US" sz="1300" dirty="0"/>
          </a:p>
        </p:txBody>
      </p:sp>
      <p:sp>
        <p:nvSpPr>
          <p:cNvPr id="5" name="Fix 2"/>
          <p:cNvSpPr txBox="1"/>
          <p:nvPr/>
        </p:nvSpPr>
        <p:spPr>
          <a:xfrm rot="60000">
            <a:off x="4427068" y="2331720"/>
            <a:ext cx="3337560" cy="2743200"/>
          </a:xfrm>
          <a:prstGeom prst="roundRect">
            <a:avLst>
              <a:gd name="adj" fmla="val 10000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t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6B6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 2</a:t>
            </a:r>
            <a:endParaRPr lang="en-US" sz="13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Cheaper agency</a:t>
            </a:r>
            <a:endParaRPr lang="en-US" sz="13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brought it to</a:t>
            </a:r>
            <a:endParaRPr lang="en-US" sz="1300" dirty="0"/>
          </a:p>
          <a:p>
            <a:pPr algn="l" indent="0" marL="0">
              <a:buNone/>
            </a:pPr>
            <a:r>
              <a:rPr lang="en-US" sz="66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$120</a:t>
            </a:r>
            <a:endParaRPr lang="en-US" sz="1300" dirty="0"/>
          </a:p>
        </p:txBody>
      </p:sp>
      <p:sp>
        <p:nvSpPr>
          <p:cNvPr id="6" name="Fix 3"/>
          <p:cNvSpPr txBox="1"/>
          <p:nvPr/>
        </p:nvSpPr>
        <p:spPr>
          <a:xfrm rot="-60000">
            <a:off x="8168335" y="2331720"/>
            <a:ext cx="3337560" cy="2743200"/>
          </a:xfrm>
          <a:prstGeom prst="roundRect">
            <a:avLst>
              <a:gd name="adj" fmla="val 10000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t"/>
          <a:lstStyle/>
          <a:p>
            <a:pPr algn="l" indent="0" marL="0">
              <a:buNone/>
            </a:pPr>
            <a:r>
              <a:rPr lang="en-US" sz="1300" spc="300" kern="0" dirty="0">
                <a:solidFill>
                  <a:srgbClr val="6B6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 3</a:t>
            </a:r>
            <a:endParaRPr lang="en-US" sz="13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budget</a:t>
            </a:r>
            <a:endParaRPr lang="en-US" sz="13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6B6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pushed it to</a:t>
            </a:r>
            <a:endParaRPr lang="en-US" sz="1300" dirty="0"/>
          </a:p>
          <a:p>
            <a:pPr algn="l" indent="0" marL="0">
              <a:buNone/>
            </a:pPr>
            <a:r>
              <a:rPr lang="en-US" sz="66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$198</a:t>
            </a:r>
            <a:endParaRPr lang="en-US" sz="1300" dirty="0"/>
          </a:p>
        </p:txBody>
      </p:sp>
      <p:sp>
        <p:nvSpPr>
          <p:cNvPr id="7" name="Footer"/>
          <p:cNvSpPr txBox="1"/>
          <p:nvPr/>
        </p:nvSpPr>
        <p:spPr>
          <a:xfrm>
            <a:off x="685800" y="5623560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1613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CUSTOMER, MORE MONEY</a:t>
            </a:r>
            <a:endParaRPr lang="en-US" sz="13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mph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animScale>
                                      <p:cBhvr>
                                        <p:cTn id="38" dur="18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ads were never the problem.</a:t>
            </a:r>
            <a:endParaRPr lang="en-US" sz="5000" dirty="0"/>
          </a:p>
        </p:txBody>
      </p:sp>
      <p:sp>
        <p:nvSpPr>
          <p:cNvPr id="4" name="Underline"/>
          <p:cNvSpPr/>
          <p:nvPr/>
        </p:nvSpPr>
        <p:spPr>
          <a:xfrm>
            <a:off x="4882896" y="1783080"/>
            <a:ext cx="1691640" cy="109728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</p:sp>
      <p:sp>
        <p:nvSpPr>
          <p:cNvPr id="5" name="Tag"/>
          <p:cNvSpPr txBox="1"/>
          <p:nvPr/>
        </p:nvSpPr>
        <p:spPr>
          <a:xfrm>
            <a:off x="685800" y="2514600"/>
            <a:ext cx="49377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1613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ONLY QUESTION THAT MATTERS</a:t>
            </a:r>
            <a:endParaRPr lang="en-US" sz="1300" dirty="0"/>
          </a:p>
        </p:txBody>
      </p:sp>
      <p:sp>
        <p:nvSpPr>
          <p:cNvPr id="6" name="Question card"/>
          <p:cNvSpPr/>
          <p:nvPr/>
        </p:nvSpPr>
        <p:spPr>
          <a:xfrm>
            <a:off x="685800" y="3063240"/>
            <a:ext cx="8412480" cy="2514600"/>
          </a:xfrm>
          <a:prstGeom prst="roundRect">
            <a:avLst>
              <a:gd name="adj" fmla="val 10909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</p:sp>
      <p:sp>
        <p:nvSpPr>
          <p:cNvPr id="7" name="Question"/>
          <p:cNvSpPr txBox="1"/>
          <p:nvPr/>
        </p:nvSpPr>
        <p:spPr>
          <a:xfrm>
            <a:off x="1097280" y="3611880"/>
            <a:ext cx="7589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the customer actually get?</a:t>
            </a:r>
            <a:endParaRPr lang="en-US" sz="5000" dirty="0"/>
          </a:p>
        </p:txBody>
      </p:sp>
      <p:sp>
        <p:nvSpPr>
          <p:cNvPr id="8" name="Dot 1"/>
          <p:cNvSpPr/>
          <p:nvPr/>
        </p:nvSpPr>
        <p:spPr>
          <a:xfrm>
            <a:off x="1051560" y="3291840"/>
            <a:ext cx="182880" cy="182880"/>
          </a:xfrm>
          <a:prstGeom prst="ellipse">
            <a:avLst/>
          </a:prstGeom>
          <a:solidFill>
            <a:srgbClr val="FF5F57"/>
          </a:solidFill>
          <a:ln/>
        </p:spPr>
      </p:sp>
      <p:sp>
        <p:nvSpPr>
          <p:cNvPr id="9" name="Dot 2"/>
          <p:cNvSpPr/>
          <p:nvPr/>
        </p:nvSpPr>
        <p:spPr>
          <a:xfrm>
            <a:off x="1344168" y="3291840"/>
            <a:ext cx="182880" cy="182880"/>
          </a:xfrm>
          <a:prstGeom prst="ellipse">
            <a:avLst/>
          </a:prstGeom>
          <a:solidFill>
            <a:srgbClr val="FEBC2E"/>
          </a:solidFill>
          <a:ln/>
        </p:spPr>
      </p:sp>
      <p:sp>
        <p:nvSpPr>
          <p:cNvPr id="10" name="Dot 3"/>
          <p:cNvSpPr/>
          <p:nvPr/>
        </p:nvSpPr>
        <p:spPr>
          <a:xfrm>
            <a:off x="1636776" y="3291840"/>
            <a:ext cx="182880" cy="182880"/>
          </a:xfrm>
          <a:prstGeom prst="ellipse">
            <a:avLst/>
          </a:prstGeom>
          <a:solidFill>
            <a:srgbClr val="28C840"/>
          </a:solidFill>
          <a:ln/>
        </p:spPr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2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53" presetClass="entr" presetSubtype="16" fill="hold" grpId="0" nodeType="withEffect">
                                  <p:stCondLst>
                                    <p:cond delay="59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9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2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iterate type="lt">
                                    <p:tmAbs val="45"/>
                                  </p:iterate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8" grpId="0" animBg="1"/>
      <p:bldP spid="9" grpId="0" animBg="1"/>
      <p:bldP spid="10" grpId="0" animBg="1"/>
      <p:bldP spid="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they changed </a:t>
            </a:r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sentence.</a:t>
            </a:r>
            <a:endParaRPr lang="en-US" sz="5000" dirty="0"/>
          </a:p>
        </p:txBody>
      </p:sp>
      <p:sp>
        <p:nvSpPr>
          <p:cNvPr id="4" name="Row 1"/>
          <p:cNvSpPr txBox="1"/>
          <p:nvPr/>
        </p:nvSpPr>
        <p:spPr>
          <a:xfrm>
            <a:off x="685800" y="2514600"/>
            <a:ext cx="5852160" cy="786384"/>
          </a:xfrm>
          <a:prstGeom prst="roundRect">
            <a:avLst>
              <a:gd name="adj" fmla="val 23256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116840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product</a:t>
            </a:r>
            <a:endParaRPr lang="en-US" sz="3000" dirty="0"/>
          </a:p>
        </p:txBody>
      </p:sp>
      <p:sp>
        <p:nvSpPr>
          <p:cNvPr id="5" name="Tick 1"/>
          <p:cNvSpPr txBox="1"/>
          <p:nvPr/>
        </p:nvSpPr>
        <p:spPr>
          <a:xfrm>
            <a:off x="886968" y="2651760"/>
            <a:ext cx="512064" cy="512064"/>
          </a:xfrm>
          <a:prstGeom prst="ellipse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6" name="Row 2"/>
          <p:cNvSpPr txBox="1"/>
          <p:nvPr/>
        </p:nvSpPr>
        <p:spPr>
          <a:xfrm>
            <a:off x="685800" y="3502152"/>
            <a:ext cx="5852160" cy="786384"/>
          </a:xfrm>
          <a:prstGeom prst="roundRect">
            <a:avLst>
              <a:gd name="adj" fmla="val 23256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116840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audience</a:t>
            </a:r>
            <a:endParaRPr lang="en-US" sz="3000" dirty="0"/>
          </a:p>
        </p:txBody>
      </p:sp>
      <p:sp>
        <p:nvSpPr>
          <p:cNvPr id="7" name="Tick 2"/>
          <p:cNvSpPr txBox="1"/>
          <p:nvPr/>
        </p:nvSpPr>
        <p:spPr>
          <a:xfrm>
            <a:off x="886968" y="3639312"/>
            <a:ext cx="512064" cy="512064"/>
          </a:xfrm>
          <a:prstGeom prst="ellipse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8" name="Row 3"/>
          <p:cNvSpPr txBox="1"/>
          <p:nvPr/>
        </p:nvSpPr>
        <p:spPr>
          <a:xfrm>
            <a:off x="685800" y="4489704"/>
            <a:ext cx="5852160" cy="786384"/>
          </a:xfrm>
          <a:prstGeom prst="roundRect">
            <a:avLst>
              <a:gd name="adj" fmla="val 23256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116840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budget</a:t>
            </a:r>
            <a:endParaRPr lang="en-US" sz="3000" dirty="0"/>
          </a:p>
        </p:txBody>
      </p:sp>
      <p:sp>
        <p:nvSpPr>
          <p:cNvPr id="9" name="Tick 3"/>
          <p:cNvSpPr txBox="1"/>
          <p:nvPr/>
        </p:nvSpPr>
        <p:spPr>
          <a:xfrm>
            <a:off x="886968" y="4626864"/>
            <a:ext cx="512064" cy="512064"/>
          </a:xfrm>
          <a:prstGeom prst="ellipse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10" name="One"/>
          <p:cNvSpPr txBox="1"/>
          <p:nvPr/>
        </p:nvSpPr>
        <p:spPr>
          <a:xfrm rot="180000">
            <a:off x="7452360" y="2377440"/>
            <a:ext cx="4023360" cy="3200400"/>
          </a:xfrm>
          <a:prstGeom prst="roundRect">
            <a:avLst>
              <a:gd name="adj" fmla="val 8571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sentence changed</a:t>
            </a:r>
            <a:endParaRPr lang="en-US" sz="15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2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6" presetClass="emph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53" dur="18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ag"/>
          <p:cNvSpPr txBox="1"/>
          <p:nvPr/>
        </p:nvSpPr>
        <p:spPr>
          <a:xfrm>
            <a:off x="685800" y="822960"/>
            <a:ext cx="3035808" cy="384048"/>
          </a:xfrm>
          <a:prstGeom prst="roundRect">
            <a:avLst>
              <a:gd name="adj" fmla="val 50000"/>
            </a:avLst>
          </a:prstGeom>
          <a:solidFill>
            <a:srgbClr val="16131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 PER CUSTOMER</a:t>
            </a:r>
            <a:endParaRPr lang="en-US" sz="1300" dirty="0"/>
          </a:p>
        </p:txBody>
      </p:sp>
      <p:sp>
        <p:nvSpPr>
          <p:cNvPr id="4" name="Value 0"/>
          <p:cNvSpPr txBox="1"/>
          <p:nvPr/>
        </p:nvSpPr>
        <p:spPr>
          <a:xfrm>
            <a:off x="594360" y="13258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$157</a:t>
            </a:r>
            <a:endParaRPr lang="en-US" sz="21000" dirty="0"/>
          </a:p>
        </p:txBody>
      </p:sp>
      <p:sp>
        <p:nvSpPr>
          <p:cNvPr id="5" name="Chip 0"/>
          <p:cNvSpPr txBox="1"/>
          <p:nvPr/>
        </p:nvSpPr>
        <p:spPr>
          <a:xfrm>
            <a:off x="685800" y="4343400"/>
            <a:ext cx="1417320" cy="640080"/>
          </a:xfrm>
          <a:prstGeom prst="roundRect">
            <a:avLst>
              <a:gd name="adj" fmla="val 25714"/>
            </a:avLst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$157</a:t>
            </a:r>
            <a:endParaRPr lang="en-US" sz="2400" dirty="0"/>
          </a:p>
        </p:txBody>
      </p:sp>
      <p:sp>
        <p:nvSpPr>
          <p:cNvPr id="6" name="Strike 0"/>
          <p:cNvSpPr/>
          <p:nvPr/>
        </p:nvSpPr>
        <p:spPr>
          <a:xfrm>
            <a:off x="868680" y="4663440"/>
            <a:ext cx="105156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7" name="Value 1"/>
          <p:cNvSpPr txBox="1"/>
          <p:nvPr/>
        </p:nvSpPr>
        <p:spPr>
          <a:xfrm>
            <a:off x="594360" y="13258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</a:t>
            </a:r>
            <a:endParaRPr lang="en-US" sz="21000" dirty="0"/>
          </a:p>
        </p:txBody>
      </p:sp>
      <p:sp>
        <p:nvSpPr>
          <p:cNvPr id="8" name="Chip 1"/>
          <p:cNvSpPr txBox="1"/>
          <p:nvPr/>
        </p:nvSpPr>
        <p:spPr>
          <a:xfrm>
            <a:off x="2286000" y="4343400"/>
            <a:ext cx="1417320" cy="640080"/>
          </a:xfrm>
          <a:prstGeom prst="roundRect">
            <a:avLst>
              <a:gd name="adj" fmla="val 25714"/>
            </a:avLst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$42</a:t>
            </a:r>
            <a:endParaRPr lang="en-US" sz="2400" dirty="0"/>
          </a:p>
        </p:txBody>
      </p:sp>
      <p:sp>
        <p:nvSpPr>
          <p:cNvPr id="9" name="Strike 1"/>
          <p:cNvSpPr/>
          <p:nvPr/>
        </p:nvSpPr>
        <p:spPr>
          <a:xfrm>
            <a:off x="2468880" y="4663440"/>
            <a:ext cx="105156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0" name="Value 2"/>
          <p:cNvSpPr txBox="1"/>
          <p:nvPr/>
        </p:nvSpPr>
        <p:spPr>
          <a:xfrm>
            <a:off x="594360" y="13258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</a:t>
            </a:r>
            <a:endParaRPr lang="en-US" sz="21000" dirty="0"/>
          </a:p>
        </p:txBody>
      </p:sp>
      <p:sp>
        <p:nvSpPr>
          <p:cNvPr id="11" name="Chip 2"/>
          <p:cNvSpPr txBox="1"/>
          <p:nvPr/>
        </p:nvSpPr>
        <p:spPr>
          <a:xfrm>
            <a:off x="3886200" y="4343400"/>
            <a:ext cx="1417320" cy="640080"/>
          </a:xfrm>
          <a:prstGeom prst="roundRect">
            <a:avLst>
              <a:gd name="adj" fmla="val 25714"/>
            </a:avLst>
          </a:prstGeom>
          <a:solidFill>
            <a:srgbClr val="FFFFFF">
              <a:alpha val="25000"/>
            </a:srgbClr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</a:t>
            </a:r>
            <a:endParaRPr lang="en-US" sz="2400" dirty="0"/>
          </a:p>
        </p:txBody>
      </p:sp>
      <p:sp>
        <p:nvSpPr>
          <p:cNvPr id="12" name="Strike 2"/>
          <p:cNvSpPr/>
          <p:nvPr/>
        </p:nvSpPr>
        <p:spPr>
          <a:xfrm>
            <a:off x="4069080" y="4663440"/>
            <a:ext cx="105156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13" name="Value 3"/>
          <p:cNvSpPr txBox="1"/>
          <p:nvPr/>
        </p:nvSpPr>
        <p:spPr>
          <a:xfrm>
            <a:off x="594360" y="1325880"/>
            <a:ext cx="8229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0" b="1" spc="-5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$3.58</a:t>
            </a:r>
            <a:endParaRPr lang="en-US" sz="21000" dirty="0"/>
          </a:p>
        </p:txBody>
      </p:sp>
      <p:sp>
        <p:nvSpPr>
          <p:cNvPr id="14" name="Chip 3"/>
          <p:cNvSpPr txBox="1"/>
          <p:nvPr/>
        </p:nvSpPr>
        <p:spPr>
          <a:xfrm>
            <a:off x="5486400" y="4343400"/>
            <a:ext cx="1417320" cy="640080"/>
          </a:xfrm>
          <a:prstGeom prst="roundRect">
            <a:avLst>
              <a:gd name="adj" fmla="val 25714"/>
            </a:avLst>
          </a:prstGeom>
          <a:solidFill>
            <a:srgbClr val="FFC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$3.58</a:t>
            </a:r>
            <a:endParaRPr lang="en-US" sz="2400" dirty="0"/>
          </a:p>
        </p:txBody>
      </p:sp>
      <p:sp>
        <p:nvSpPr>
          <p:cNvPr id="15" name="Footer"/>
          <p:cNvSpPr txBox="1"/>
          <p:nvPr/>
        </p:nvSpPr>
        <p:spPr>
          <a:xfrm>
            <a:off x="685800" y="534924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</a:t>
            </a:r>
            <a:pPr indent="0" marL="0">
              <a:buNone/>
            </a:pPr>
            <a:r>
              <a:rPr lang="en-US" sz="44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sentence.</a:t>
            </a:r>
            <a:endParaRPr lang="en-US" sz="4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6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6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2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5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2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4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2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5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2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6" presetClass="emph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animScale>
                                      <p:cBhvr>
                                        <p:cTn id="86" dur="18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4" grpId="1" animBg="1"/>
      <p:bldP spid="7" grpId="0" animBg="1"/>
      <p:bldP spid="6" grpId="0" animBg="1"/>
      <p:bldP spid="8" grpId="0" animBg="1"/>
      <p:bldP spid="7" grpId="1" animBg="1"/>
      <p:bldP spid="10" grpId="0" animBg="1"/>
      <p:bldP spid="9" grpId="0" animBg="1"/>
      <p:bldP spid="11" grpId="0" animBg="1"/>
      <p:bldP spid="10" grpId="1" animBg="1"/>
      <p:bldP spid="12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Picture a man staring at </a:t>
            </a:r>
            <a:pPr algn="l" indent="0" marL="0">
              <a:buNone/>
            </a:pPr>
            <a:r>
              <a:rPr lang="en-US" sz="5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drills.</a:t>
            </a:r>
            <a:endParaRPr lang="en-US" sz="5000" dirty="0"/>
          </a:p>
        </p:txBody>
      </p:sp>
      <p:sp>
        <p:nvSpPr>
          <p:cNvPr id="4" name="Drill 1"/>
          <p:cNvSpPr txBox="1"/>
          <p:nvPr/>
        </p:nvSpPr>
        <p:spPr>
          <a:xfrm rot="-180000">
            <a:off x="685800" y="2423160"/>
            <a:ext cx="3108960" cy="2926080"/>
          </a:xfrm>
          <a:prstGeom prst="roundRect">
            <a:avLst>
              <a:gd name="adj" fmla="val 9375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10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BDB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1</a:t>
            </a:r>
            <a:endParaRPr lang="en-US" sz="11000" dirty="0"/>
          </a:p>
        </p:txBody>
      </p:sp>
      <p:sp>
        <p:nvSpPr>
          <p:cNvPr id="5" name="Drill 2"/>
          <p:cNvSpPr txBox="1"/>
          <p:nvPr/>
        </p:nvSpPr>
        <p:spPr>
          <a:xfrm rot="120000">
            <a:off x="4541368" y="2423160"/>
            <a:ext cx="3108960" cy="2926080"/>
          </a:xfrm>
          <a:prstGeom prst="roundRect">
            <a:avLst>
              <a:gd name="adj" fmla="val 9375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10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BDB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2</a:t>
            </a:r>
            <a:endParaRPr lang="en-US" sz="11000" dirty="0"/>
          </a:p>
        </p:txBody>
      </p:sp>
      <p:sp>
        <p:nvSpPr>
          <p:cNvPr id="6" name="Drill 3"/>
          <p:cNvSpPr txBox="1"/>
          <p:nvPr/>
        </p:nvSpPr>
        <p:spPr>
          <a:xfrm rot="-60000">
            <a:off x="8396935" y="2423160"/>
            <a:ext cx="3108960" cy="2926080"/>
          </a:xfrm>
          <a:prstGeom prst="roundRect">
            <a:avLst>
              <a:gd name="adj" fmla="val 9375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11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1000" dirty="0"/>
          </a:p>
          <a:p>
            <a:pPr algn="ctr" indent="0" marL="0">
              <a:buNone/>
            </a:pPr>
            <a:r>
              <a:rPr lang="en-US" sz="1400" spc="300" kern="0" dirty="0">
                <a:solidFill>
                  <a:srgbClr val="BDB8C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DRILL 3</a:t>
            </a:r>
            <a:endParaRPr lang="en-US" sz="11000" dirty="0"/>
          </a:p>
        </p:txBody>
      </p:sp>
      <p:sp>
        <p:nvSpPr>
          <p:cNvPr id="7" name="Footer"/>
          <p:cNvSpPr txBox="1"/>
          <p:nvPr/>
        </p:nvSpPr>
        <p:spPr>
          <a:xfrm>
            <a:off x="685800" y="5760720"/>
            <a:ext cx="4498848" cy="384048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300" kern="0" dirty="0">
                <a:solidFill>
                  <a:srgbClr val="1613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 IS NOT READING THE BOXES</a:t>
            </a:r>
            <a:endParaRPr lang="en-US" sz="13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mph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animScale>
                                      <p:cBhvr>
                                        <p:cTn id="38" dur="180" autoRev="1" fill="hold"/>
                                        <p:tgtEl>
                                          <p:spTgt spid="4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animScale>
                                      <p:cBhvr>
                                        <p:cTn id="41" dur="18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  <p:par>
                                <p:cTn id="42" presetID="6" presetClass="emph" presetSubtype="0" fill="hold" grpId="0" nodeType="withEffect">
                                  <p:stCondLst>
                                    <p:cond delay="660"/>
                                  </p:stCondLst>
                                  <p:childTnLst>
                                    <p:animScale>
                                      <p:cBhvr>
                                        <p:cTn id="44" dur="18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is not buying </a:t>
            </a:r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drill.</a:t>
            </a:r>
            <a:endParaRPr lang="en-US" sz="5000" dirty="0"/>
          </a:p>
        </p:txBody>
      </p:sp>
      <p:sp>
        <p:nvSpPr>
          <p:cNvPr id="4" name="Buying"/>
          <p:cNvSpPr txBox="1"/>
          <p:nvPr/>
        </p:nvSpPr>
        <p:spPr>
          <a:xfrm>
            <a:off x="685800" y="22402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is buying:</a:t>
            </a:r>
            <a:endParaRPr lang="en-US" sz="2600" dirty="0"/>
          </a:p>
        </p:txBody>
      </p:sp>
      <p:sp>
        <p:nvSpPr>
          <p:cNvPr id="5" name="Row 1"/>
          <p:cNvSpPr txBox="1"/>
          <p:nvPr/>
        </p:nvSpPr>
        <p:spPr>
          <a:xfrm>
            <a:off x="685800" y="2926080"/>
            <a:ext cx="6035040" cy="749808"/>
          </a:xfrm>
          <a:prstGeom prst="roundRect">
            <a:avLst>
              <a:gd name="adj" fmla="val 24390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116840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garage</a:t>
            </a:r>
            <a:endParaRPr lang="en-US" sz="2800" dirty="0"/>
          </a:p>
        </p:txBody>
      </p:sp>
      <p:sp>
        <p:nvSpPr>
          <p:cNvPr id="6" name="Tick 1"/>
          <p:cNvSpPr txBox="1"/>
          <p:nvPr/>
        </p:nvSpPr>
        <p:spPr>
          <a:xfrm>
            <a:off x="886968" y="3054096"/>
            <a:ext cx="493776" cy="493776"/>
          </a:xfrm>
          <a:prstGeom prst="ellipse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7" name="Row 2"/>
          <p:cNvSpPr txBox="1"/>
          <p:nvPr/>
        </p:nvSpPr>
        <p:spPr>
          <a:xfrm>
            <a:off x="685800" y="3858768"/>
            <a:ext cx="6035040" cy="749808"/>
          </a:xfrm>
          <a:prstGeom prst="roundRect">
            <a:avLst>
              <a:gd name="adj" fmla="val 24390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116840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shelf finally level</a:t>
            </a:r>
            <a:endParaRPr lang="en-US" sz="2800" dirty="0"/>
          </a:p>
        </p:txBody>
      </p:sp>
      <p:sp>
        <p:nvSpPr>
          <p:cNvPr id="8" name="Tick 2"/>
          <p:cNvSpPr txBox="1"/>
          <p:nvPr/>
        </p:nvSpPr>
        <p:spPr>
          <a:xfrm>
            <a:off x="886968" y="3986784"/>
            <a:ext cx="493776" cy="493776"/>
          </a:xfrm>
          <a:prstGeom prst="ellipse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9" name="Row 3"/>
          <p:cNvSpPr txBox="1"/>
          <p:nvPr/>
        </p:nvSpPr>
        <p:spPr>
          <a:xfrm>
            <a:off x="685800" y="4791456"/>
            <a:ext cx="6035040" cy="749808"/>
          </a:xfrm>
          <a:prstGeom prst="roundRect">
            <a:avLst>
              <a:gd name="adj" fmla="val 24390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116840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job done</a:t>
            </a:r>
            <a:endParaRPr lang="en-US" sz="2800" dirty="0"/>
          </a:p>
        </p:txBody>
      </p:sp>
      <p:sp>
        <p:nvSpPr>
          <p:cNvPr id="10" name="Tick 3"/>
          <p:cNvSpPr txBox="1"/>
          <p:nvPr/>
        </p:nvSpPr>
        <p:spPr>
          <a:xfrm>
            <a:off x="886968" y="4919472"/>
            <a:ext cx="493776" cy="493776"/>
          </a:xfrm>
          <a:prstGeom prst="ellipse">
            <a:avLst/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✓</a:t>
            </a:r>
            <a:endParaRPr lang="en-US" sz="2200" dirty="0"/>
          </a:p>
        </p:txBody>
      </p:sp>
      <p:sp>
        <p:nvSpPr>
          <p:cNvPr id="11" name="Tool"/>
          <p:cNvSpPr txBox="1"/>
          <p:nvPr/>
        </p:nvSpPr>
        <p:spPr>
          <a:xfrm rot="180000">
            <a:off x="7498080" y="2743200"/>
            <a:ext cx="3977640" cy="2377440"/>
          </a:xfrm>
          <a:prstGeom prst="roundRect">
            <a:avLst>
              <a:gd name="adj" fmla="val 11538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304800" tIns="406400" rIns="406400" bIns="30480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drill is just</a:t>
            </a:r>
            <a:endParaRPr lang="en-US" sz="3000" dirty="0"/>
          </a:p>
          <a:p>
            <a:pPr algn="l" indent="0" marL="0">
              <a:buNone/>
            </a:pPr>
            <a:r>
              <a:rPr lang="en-US" sz="54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tool.</a:t>
            </a:r>
            <a:endParaRPr lang="en-US" sz="3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6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2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3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5" dur="2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5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2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5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6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2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6" presetClass="emph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60" dur="18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buys a ride </a:t>
            </a:r>
            <a:pPr algn="l" indent="0" marL="0">
              <a:buNone/>
            </a:pPr>
            <a:r>
              <a:rPr lang="en-US" sz="5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the taxi.</a:t>
            </a:r>
            <a:endParaRPr lang="en-US" sz="5000" dirty="0"/>
          </a:p>
        </p:txBody>
      </p:sp>
      <p:sp>
        <p:nvSpPr>
          <p:cNvPr id="4" name="Home"/>
          <p:cNvSpPr txBox="1"/>
          <p:nvPr/>
        </p:nvSpPr>
        <p:spPr>
          <a:xfrm rot="-120000">
            <a:off x="685800" y="2514600"/>
            <a:ext cx="5029200" cy="2377440"/>
          </a:xfrm>
          <a:prstGeom prst="roundRect">
            <a:avLst>
              <a:gd name="adj" fmla="val 11538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304800" tIns="431800" rIns="431800" bIns="304800" rtlCol="0" anchor="ctr"/>
          <a:lstStyle/>
          <a:p>
            <a:pPr algn="l" indent="0" marL="0">
              <a:buNone/>
            </a:pPr>
            <a:r>
              <a:rPr lang="en-US" sz="1400" spc="300" kern="0" dirty="0">
                <a:solidFill>
                  <a:srgbClr val="6B6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THEY ARE BUYING</a:t>
            </a:r>
            <a:endParaRPr lang="en-US" sz="1400" dirty="0"/>
          </a:p>
          <a:p>
            <a:pPr algn="l" indent="0" marL="0">
              <a:buNone/>
            </a:pPr>
            <a:r>
              <a:rPr lang="en-US" sz="52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ride home.</a:t>
            </a:r>
            <a:endParaRPr lang="en-US" sz="1400" dirty="0"/>
          </a:p>
        </p:txBody>
      </p:sp>
      <p:sp>
        <p:nvSpPr>
          <p:cNvPr id="5" name="Identity"/>
          <p:cNvSpPr txBox="1"/>
          <p:nvPr/>
        </p:nvSpPr>
        <p:spPr>
          <a:xfrm rot="120000">
            <a:off x="6172200" y="3429000"/>
            <a:ext cx="5349240" cy="2103120"/>
          </a:xfrm>
          <a:prstGeom prst="roundRect">
            <a:avLst>
              <a:gd name="adj" fmla="val 13043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304800" tIns="431800" rIns="431800" bIns="30480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buying the </a:t>
            </a:r>
            <a:pPr algn="l" indent="0" marL="0">
              <a:buNone/>
            </a:pPr>
            <a:r>
              <a:rPr lang="en-US" sz="36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</a:t>
            </a:r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you hand them.</a:t>
            </a:r>
            <a:endParaRPr lang="en-US" sz="3600" dirty="0"/>
          </a:p>
        </p:txBody>
      </p:sp>
      <p:sp>
        <p:nvSpPr>
          <p:cNvPr id="6" name="Service"/>
          <p:cNvSpPr txBox="1"/>
          <p:nvPr/>
        </p:nvSpPr>
        <p:spPr>
          <a:xfrm>
            <a:off x="6172200" y="2240280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Nobody buys your service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the service.</a:t>
            </a:r>
            <a:endParaRPr lang="en-US" sz="24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animScale>
                                      <p:cBhvr>
                                        <p:cTn id="31" dur="18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asks </a:t>
            </a:r>
            <a:pPr algn="l" indent="0" marL="0">
              <a:buNone/>
            </a:pPr>
            <a:r>
              <a:rPr lang="en-US" sz="5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price.</a:t>
            </a:r>
            <a:endParaRPr lang="en-US" sz="5000" dirty="0"/>
          </a:p>
        </p:txBody>
      </p:sp>
      <p:sp>
        <p:nvSpPr>
          <p:cNvPr id="4" name="Pause"/>
          <p:cNvSpPr txBox="1"/>
          <p:nvPr/>
        </p:nvSpPr>
        <p:spPr>
          <a:xfrm rot="-180000">
            <a:off x="685800" y="2377440"/>
            <a:ext cx="3291840" cy="3108960"/>
          </a:xfrm>
          <a:prstGeom prst="roundRect">
            <a:avLst>
              <a:gd name="adj" fmla="val 8824"/>
            </a:avLst>
          </a:prstGeom>
          <a:solidFill>
            <a:srgbClr val="16131F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2s</a:t>
            </a:r>
            <a:endParaRPr lang="en-US" sz="120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go quiet.</a:t>
            </a:r>
            <a:endParaRPr lang="en-US" sz="12000" dirty="0"/>
          </a:p>
        </p:txBody>
      </p:sp>
      <p:sp>
        <p:nvSpPr>
          <p:cNvPr id="5" name="Discount"/>
          <p:cNvSpPr txBox="1"/>
          <p:nvPr/>
        </p:nvSpPr>
        <p:spPr>
          <a:xfrm>
            <a:off x="4434840" y="2377440"/>
            <a:ext cx="7086600" cy="1417320"/>
          </a:xfrm>
          <a:prstGeom prst="roundRect">
            <a:avLst>
              <a:gd name="adj" fmla="val 16129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6B65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MOST PEOPLE DO</a:t>
            </a:r>
            <a:endParaRPr lang="en-US" sz="1300" dirty="0"/>
          </a:p>
          <a:p>
            <a:pPr algn="l" indent="0" marL="0">
              <a:buNone/>
            </a:pPr>
            <a:r>
              <a:rPr lang="en-US" sz="30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silence with a </a:t>
            </a:r>
            <a:pPr algn="l" indent="0" marL="0">
              <a:buNone/>
            </a:pPr>
            <a:r>
              <a:rPr lang="en-US" sz="30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discount.</a:t>
            </a:r>
            <a:endParaRPr lang="en-US" sz="1300" dirty="0"/>
          </a:p>
        </p:txBody>
      </p:sp>
      <p:sp>
        <p:nvSpPr>
          <p:cNvPr id="6" name="Discount X"/>
          <p:cNvSpPr txBox="1"/>
          <p:nvPr/>
        </p:nvSpPr>
        <p:spPr>
          <a:xfrm>
            <a:off x="11018520" y="2148840"/>
            <a:ext cx="685800" cy="685800"/>
          </a:xfrm>
          <a:prstGeom prst="ellipse">
            <a:avLst/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✕</a:t>
            </a:r>
            <a:endParaRPr lang="en-US" sz="2400" dirty="0"/>
          </a:p>
        </p:txBody>
      </p:sp>
      <p:sp>
        <p:nvSpPr>
          <p:cNvPr id="7" name="Instead"/>
          <p:cNvSpPr txBox="1"/>
          <p:nvPr/>
        </p:nvSpPr>
        <p:spPr>
          <a:xfrm>
            <a:off x="4434840" y="4023360"/>
            <a:ext cx="7086600" cy="1600200"/>
          </a:xfrm>
          <a:prstGeom prst="roundRect">
            <a:avLst>
              <a:gd name="adj" fmla="val 14286"/>
            </a:avLst>
          </a:prstGeom>
          <a:solidFill>
            <a:srgbClr val="FFC93C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l" indent="0" marL="0">
              <a:buNone/>
            </a:pPr>
            <a:r>
              <a:rPr lang="en-US" sz="1300" spc="200" kern="0" dirty="0">
                <a:solidFill>
                  <a:srgbClr val="1613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INSTEAD</a:t>
            </a:r>
            <a:endParaRPr lang="en-US" sz="1300" dirty="0"/>
          </a:p>
          <a:p>
            <a:pPr algn="l" indent="0" marL="0">
              <a:buNone/>
            </a:pPr>
            <a:r>
              <a:rPr lang="en-US" sz="28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 the pause with the transformation and the discount never comes up.</a:t>
            </a:r>
            <a:endParaRPr lang="en-US" sz="13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6" presetClass="emph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animScale>
                                      <p:cBhvr>
                                        <p:cTn id="38" dur="18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685800" y="1051560"/>
            <a:ext cx="1082009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the transformation </a:t>
            </a:r>
            <a:pPr algn="l" indent="0" marL="0">
              <a:buNone/>
            </a:pPr>
            <a:r>
              <a:rPr lang="en-US" sz="5000" b="1" dirty="0">
                <a:solidFill>
                  <a:srgbClr val="FFC9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buying.</a:t>
            </a:r>
            <a:endParaRPr lang="en-US" sz="5000" dirty="0"/>
          </a:p>
        </p:txBody>
      </p:sp>
      <p:sp>
        <p:nvSpPr>
          <p:cNvPr id="4" name="Then"/>
          <p:cNvSpPr txBox="1"/>
          <p:nvPr/>
        </p:nvSpPr>
        <p:spPr>
          <a:xfrm>
            <a:off x="685800" y="27889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make it show in</a:t>
            </a:r>
            <a:endParaRPr lang="en-US" sz="2600" dirty="0"/>
          </a:p>
        </p:txBody>
      </p:sp>
      <p:sp>
        <p:nvSpPr>
          <p:cNvPr id="5" name="Every 1"/>
          <p:cNvSpPr txBox="1"/>
          <p:nvPr/>
        </p:nvSpPr>
        <p:spPr>
          <a:xfrm rot="-120000">
            <a:off x="685800" y="3474720"/>
            <a:ext cx="2971800" cy="1005840"/>
          </a:xfrm>
          <a:prstGeom prst="roundRect">
            <a:avLst>
              <a:gd name="adj" fmla="val 22727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page</a:t>
            </a:r>
            <a:endParaRPr lang="en-US" sz="3200" dirty="0"/>
          </a:p>
        </p:txBody>
      </p:sp>
      <p:sp>
        <p:nvSpPr>
          <p:cNvPr id="6" name="Every 2"/>
          <p:cNvSpPr txBox="1"/>
          <p:nvPr/>
        </p:nvSpPr>
        <p:spPr>
          <a:xfrm rot="60000">
            <a:off x="3931920" y="3474720"/>
            <a:ext cx="2971800" cy="1005840"/>
          </a:xfrm>
          <a:prstGeom prst="roundRect">
            <a:avLst>
              <a:gd name="adj" fmla="val 22727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price</a:t>
            </a:r>
            <a:endParaRPr lang="en-US" sz="3200" dirty="0"/>
          </a:p>
        </p:txBody>
      </p:sp>
      <p:sp>
        <p:nvSpPr>
          <p:cNvPr id="7" name="Every 3"/>
          <p:cNvSpPr txBox="1"/>
          <p:nvPr/>
        </p:nvSpPr>
        <p:spPr>
          <a:xfrm rot="-60000">
            <a:off x="7178040" y="3474720"/>
            <a:ext cx="2971800" cy="1005840"/>
          </a:xfrm>
          <a:prstGeom prst="roundRect">
            <a:avLst>
              <a:gd name="adj" fmla="val 22727"/>
            </a:avLst>
          </a:prstGeom>
          <a:solidFill>
            <a:srgbClr val="FFFAF2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word</a:t>
            </a:r>
            <a:endParaRPr lang="en-US" sz="3200" dirty="0"/>
          </a:p>
        </p:txBody>
      </p:sp>
      <p:sp>
        <p:nvSpPr>
          <p:cNvPr id="8" name="Badge"/>
          <p:cNvSpPr txBox="1"/>
          <p:nvPr/>
        </p:nvSpPr>
        <p:spPr>
          <a:xfrm rot="-180000">
            <a:off x="685800" y="4937760"/>
            <a:ext cx="5120640" cy="1325880"/>
          </a:xfrm>
          <a:prstGeom prst="roundRect">
            <a:avLst>
              <a:gd name="adj" fmla="val 24138"/>
            </a:avLst>
          </a:prstGeom>
          <a:solidFill>
            <a:srgbClr val="FFC93C"/>
          </a:solidFill>
          <a:ln/>
          <a:effectLst>
            <a:outerShdw sx="100000" sy="100000" kx="0" ky="0" algn="bl" rotWithShape="0" blurRad="177800" dist="63500" dir="5400000">
              <a:srgbClr val="000000">
                <a:alpha val="28000"/>
              </a:srgbClr>
            </a:outerShdw>
          </a:effectLst>
        </p:spPr>
        <p:txBody>
          <a:bodyPr wrap="square" lIns="228600" tIns="279400" rIns="279400" bIns="22860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1613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WIN-WIN</a:t>
            </a:r>
            <a:endParaRPr lang="en-US" sz="66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2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2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2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6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0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2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" presetClass="emph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animScale>
                                      <p:cBhvr>
                                        <p:cTn id="45" dur="18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12000" y="112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Why the worse product keeps winning</dc:title>
  <dc:subject>PptxGenJS Presentation</dc:subject>
  <dc:creator>PptxGenJS</dc:creator>
  <cp:lastModifiedBy>PptxGenJS</cp:lastModifiedBy>
  <cp:revision>1</cp:revision>
  <dcterms:created xsi:type="dcterms:W3CDTF">2026-10-13T19:03:18Z</dcterms:created>
  <dcterms:modified xsi:type="dcterms:W3CDTF">2026-10-13T19:03:18Z</dcterms:modified>
</cp:coreProperties>
</file>