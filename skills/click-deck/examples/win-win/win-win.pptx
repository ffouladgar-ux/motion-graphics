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people never work out why the worse product keeps winning.
Click 1: It is not price.
Click 2: It is not quality.
Click 3: The transformation
Click 4: People buy the transformation your product really gives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157 dollars to get one customer.
Click 1: $157
Click 2: to get one customer.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fixes, three worse numbers.
Click 1: New creative did not move it $157
Click 2: Cheaper agency brought it to $120
Click 3: More budget pushed it to $198
Click 4: Same customer, more money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fixes, three worse numbers, because the ads were never the problem.
Click 1: never
Click 2: The only question that matters
Click 3: What does the customer actually get?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1: Same product
Click 2: Same audience
Click 3: Same budget
Click 4: 1 sentence changed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product. Same audience. Same budget.
Note: the Short gives 42, 18, 3.58 without a label; 'cost per customer' is inferred from its title (157 dollars to 3.58).
Click 1: $157
Click 2: $42
Click 3: $18
Click 4: $3.58
Click 5: From one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Picture a man in a hardware store staring at three drills.
Click 1: Drill 1
Click 2: Drill 2
Click 3: Drill 3
Click 4: He is not reading the boxes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1: He is buying:
Click 2: His garage
Click 3: The shelf finally level
Click 4: The job done
Click 5: The drill is just the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1: a ride home.
Click 2: Nobody buys your service for the service.
Click 3: They are buying the identity you hand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a two second pause that costs business owners more money than any competitor.
Click 1: 2s They go quiet.
Click 2: Fill the silence with a discount.
Click 3: not that
Click 4: Fill the pause with the transformation and the discount never comes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1: Then make it show in
Click 2: every page
Click 3: every price
Click 4: every word
Click 5: WIN-WIN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ral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ral-title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blue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blue-title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purple-image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purple-title-image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amber-image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amber-title-image-1.pn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green-image-1.pn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green-title-image-1.pn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teal-image-1.png"/><Relationship Id="rId2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image" Target="../media/teal-title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a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al-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051560"/>
            <a:ext cx="10820095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-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051560"/>
            <a:ext cx="10820095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-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051560"/>
            <a:ext cx="10820095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mb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mber-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051560"/>
            <a:ext cx="10820095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-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051560"/>
            <a:ext cx="10820095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l-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051560"/>
            <a:ext cx="10820095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1"/>
          <p:cNvSpPr txBox="1"/>
          <p:nvPr/>
        </p:nvSpPr>
        <p:spPr>
          <a:xfrm>
            <a:off x="685800" y="502920"/>
            <a:ext cx="1498208" cy="384048"/>
          </a:xfrm>
          <a:prstGeom prst="roundRect">
            <a:avLst>
              <a:gd name="adj" fmla="val 50000"/>
            </a:avLst>
          </a:prstGeom>
          <a:solidFill>
            <a:srgbClr val="1613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WIN-WIN</a:t>
            </a:r>
            <a:endParaRPr lang="en-US" sz="1300" dirty="0"/>
          </a:p>
        </p:txBody>
      </p:sp>
      <p:sp>
        <p:nvSpPr>
          <p:cNvPr id="3" name="Text 2"/>
          <p:cNvSpPr txBox="1"/>
          <p:nvPr/>
        </p:nvSpPr>
        <p:spPr>
          <a:xfrm>
            <a:off x="685800" y="1143000"/>
            <a:ext cx="6035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</a:t>
            </a:r>
            <a:pPr indent="0" marL="0">
              <a:buNone/>
            </a:pPr>
            <a:r>
              <a:rPr lang="en-US" sz="5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worse product</a:t>
            </a:r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keeps winning</a:t>
            </a:r>
            <a:endParaRPr lang="en-US" sz="5800" dirty="0"/>
          </a:p>
        </p:txBody>
      </p:sp>
      <p:sp>
        <p:nvSpPr>
          <p:cNvPr id="4" name="Card 3"/>
          <p:cNvSpPr txBox="1"/>
          <p:nvPr/>
        </p:nvSpPr>
        <p:spPr>
          <a:xfrm rot="-360000">
            <a:off x="7086600" y="914400"/>
            <a:ext cx="2743200" cy="1737360"/>
          </a:xfrm>
          <a:prstGeom prst="roundRect">
            <a:avLst>
              <a:gd name="adj" fmla="val 15789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34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B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price.</a:t>
            </a:r>
            <a:endParaRPr lang="en-US" sz="3400" dirty="0"/>
          </a:p>
        </p:txBody>
      </p:sp>
      <p:sp>
        <p:nvSpPr>
          <p:cNvPr id="5" name="Badge 4"/>
          <p:cNvSpPr txBox="1"/>
          <p:nvPr/>
        </p:nvSpPr>
        <p:spPr>
          <a:xfrm>
            <a:off x="9235440" y="685800"/>
            <a:ext cx="685800" cy="685800"/>
          </a:xfrm>
          <a:prstGeom prst="ellipse">
            <a:avLst/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✕</a:t>
            </a:r>
            <a:endParaRPr lang="en-US" sz="2300" dirty="0"/>
          </a:p>
        </p:txBody>
      </p:sp>
      <p:sp>
        <p:nvSpPr>
          <p:cNvPr id="6" name="Card 5"/>
          <p:cNvSpPr txBox="1"/>
          <p:nvPr/>
        </p:nvSpPr>
        <p:spPr>
          <a:xfrm rot="240000">
            <a:off x="8732520" y="1417320"/>
            <a:ext cx="2743200" cy="1737360"/>
          </a:xfrm>
          <a:prstGeom prst="roundRect">
            <a:avLst>
              <a:gd name="adj" fmla="val 15789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34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B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quality.</a:t>
            </a:r>
            <a:endParaRPr lang="en-US" sz="3400" dirty="0"/>
          </a:p>
        </p:txBody>
      </p:sp>
      <p:sp>
        <p:nvSpPr>
          <p:cNvPr id="7" name="Badge 6"/>
          <p:cNvSpPr txBox="1"/>
          <p:nvPr/>
        </p:nvSpPr>
        <p:spPr>
          <a:xfrm>
            <a:off x="10881360" y="1188720"/>
            <a:ext cx="685800" cy="685800"/>
          </a:xfrm>
          <a:prstGeom prst="ellipse">
            <a:avLst/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✕</a:t>
            </a:r>
            <a:endParaRPr lang="en-US" sz="2300" dirty="0"/>
          </a:p>
        </p:txBody>
      </p:sp>
      <p:sp>
        <p:nvSpPr>
          <p:cNvPr id="8" name="Card 7"/>
          <p:cNvSpPr txBox="1"/>
          <p:nvPr/>
        </p:nvSpPr>
        <p:spPr>
          <a:xfrm rot="-120000">
            <a:off x="7223760" y="3657600"/>
            <a:ext cx="4297680" cy="1600200"/>
          </a:xfrm>
          <a:prstGeom prst="roundRect">
            <a:avLst>
              <a:gd name="adj" fmla="val 17143"/>
            </a:avLst>
          </a:prstGeom>
          <a:solidFill>
            <a:srgbClr val="FFC93C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transformation</a:t>
            </a:r>
            <a:endParaRPr lang="en-US" sz="36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product really gives them</a:t>
            </a:r>
            <a:endParaRPr lang="en-US" sz="3600" dirty="0"/>
          </a:p>
        </p:txBody>
      </p:sp>
      <p:sp>
        <p:nvSpPr>
          <p:cNvPr id="9" name="Text 8"/>
          <p:cNvSpPr txBox="1"/>
          <p:nvPr/>
        </p:nvSpPr>
        <p:spPr>
          <a:xfrm>
            <a:off x="685800" y="44348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buy the transformation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product really gives them.</a:t>
            </a:r>
            <a:endParaRPr lang="en-US" sz="24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2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mph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46" dur="18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1"/>
          <p:cNvSpPr txBox="1"/>
          <p:nvPr/>
        </p:nvSpPr>
        <p:spPr>
          <a:xfrm>
            <a:off x="685800" y="914400"/>
            <a:ext cx="3668648" cy="384048"/>
          </a:xfrm>
          <a:prstGeom prst="roundRect">
            <a:avLst>
              <a:gd name="adj" fmla="val 50000"/>
            </a:avLst>
          </a:prstGeom>
          <a:solidFill>
            <a:srgbClr val="1613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157 DOLLAR CUSTOMER</a:t>
            </a:r>
            <a:endParaRPr lang="en-US" sz="1300" dirty="0"/>
          </a:p>
        </p:txBody>
      </p:sp>
      <p:sp>
        <p:nvSpPr>
          <p:cNvPr id="3" name="Text 2"/>
          <p:cNvSpPr txBox="1"/>
          <p:nvPr/>
        </p:nvSpPr>
        <p:spPr>
          <a:xfrm>
            <a:off x="594360" y="1508760"/>
            <a:ext cx="10058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0" b="1" spc="-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$157</a:t>
            </a:r>
            <a:endParaRPr lang="en-US" sz="25000" dirty="0"/>
          </a:p>
        </p:txBody>
      </p:sp>
      <p:sp>
        <p:nvSpPr>
          <p:cNvPr id="4" name="Text 3"/>
          <p:cNvSpPr txBox="1"/>
          <p:nvPr/>
        </p:nvSpPr>
        <p:spPr>
          <a:xfrm>
            <a:off x="685800" y="4709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get </a:t>
            </a:r>
            <a:pPr indent="0" marL="0">
              <a:buNone/>
            </a:pPr>
            <a:r>
              <a:rPr lang="en-US" sz="4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customer.</a:t>
            </a:r>
            <a:endParaRPr lang="en-US" sz="48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6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mph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animScale>
                                      <p:cBhvr>
                                        <p:cTn id="24" dur="18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051560"/>
            <a:ext cx="108200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</a:t>
            </a:r>
            <a:pPr algn="l" indent="0" marL="0">
              <a:buNone/>
            </a:pPr>
            <a:r>
              <a:rPr lang="en-US" sz="50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fixes.</a:t>
            </a:r>
            <a:endParaRPr lang="en-US" sz="5000" dirty="0"/>
          </a:p>
        </p:txBody>
      </p:sp>
      <p:sp>
        <p:nvSpPr>
          <p:cNvPr id="3" name="Card 1"/>
          <p:cNvSpPr txBox="1"/>
          <p:nvPr/>
        </p:nvSpPr>
        <p:spPr>
          <a:xfrm rot="-120000">
            <a:off x="685800" y="2304288"/>
            <a:ext cx="3362858" cy="2743200"/>
          </a:xfrm>
          <a:prstGeom prst="roundRect">
            <a:avLst>
              <a:gd name="adj" fmla="val 10000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t"/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6B6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1</a:t>
            </a:r>
            <a:endParaRPr lang="en-US" sz="13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creative</a:t>
            </a:r>
            <a:endParaRPr lang="en-US" sz="13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B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not move it</a:t>
            </a:r>
            <a:endParaRPr lang="en-US" sz="1300" dirty="0"/>
          </a:p>
          <a:p>
            <a:pPr algn="l" indent="0" marL="0">
              <a:buNone/>
            </a:pPr>
            <a:r>
              <a:rPr lang="en-US" sz="66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$157</a:t>
            </a:r>
            <a:endParaRPr lang="en-US" sz="1300" dirty="0"/>
          </a:p>
        </p:txBody>
      </p:sp>
      <p:sp>
        <p:nvSpPr>
          <p:cNvPr id="4" name="Card 2"/>
          <p:cNvSpPr txBox="1"/>
          <p:nvPr/>
        </p:nvSpPr>
        <p:spPr>
          <a:xfrm rot="60000">
            <a:off x="4414418" y="2304288"/>
            <a:ext cx="3362858" cy="2743200"/>
          </a:xfrm>
          <a:prstGeom prst="roundRect">
            <a:avLst>
              <a:gd name="adj" fmla="val 10000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t"/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6B6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2</a:t>
            </a:r>
            <a:endParaRPr lang="en-US" sz="13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Cheaper agency</a:t>
            </a:r>
            <a:endParaRPr lang="en-US" sz="13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B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brought it to</a:t>
            </a:r>
            <a:endParaRPr lang="en-US" sz="1300" dirty="0"/>
          </a:p>
          <a:p>
            <a:pPr algn="l" indent="0" marL="0">
              <a:buNone/>
            </a:pPr>
            <a:r>
              <a:rPr lang="en-US" sz="66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</a:t>
            </a:r>
            <a:endParaRPr lang="en-US" sz="1300" dirty="0"/>
          </a:p>
        </p:txBody>
      </p:sp>
      <p:sp>
        <p:nvSpPr>
          <p:cNvPr id="5" name="Card 3"/>
          <p:cNvSpPr txBox="1"/>
          <p:nvPr/>
        </p:nvSpPr>
        <p:spPr>
          <a:xfrm rot="-60000">
            <a:off x="8143037" y="2304288"/>
            <a:ext cx="3362858" cy="2743200"/>
          </a:xfrm>
          <a:prstGeom prst="roundRect">
            <a:avLst>
              <a:gd name="adj" fmla="val 10000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t"/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6B6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3</a:t>
            </a:r>
            <a:endParaRPr lang="en-US" sz="13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budget</a:t>
            </a:r>
            <a:endParaRPr lang="en-US" sz="13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B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pushed it to</a:t>
            </a:r>
            <a:endParaRPr lang="en-US" sz="1300" dirty="0"/>
          </a:p>
          <a:p>
            <a:pPr algn="l" indent="0" marL="0">
              <a:buNone/>
            </a:pPr>
            <a:r>
              <a:rPr lang="en-US" sz="66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$198</a:t>
            </a:r>
            <a:endParaRPr lang="en-US" sz="1300" dirty="0"/>
          </a:p>
        </p:txBody>
      </p:sp>
      <p:sp>
        <p:nvSpPr>
          <p:cNvPr id="6" name="Tag 4"/>
          <p:cNvSpPr txBox="1"/>
          <p:nvPr/>
        </p:nvSpPr>
        <p:spPr>
          <a:xfrm>
            <a:off x="685800" y="5596128"/>
            <a:ext cx="3939953" cy="384048"/>
          </a:xfrm>
          <a:prstGeom prst="roundRect">
            <a:avLst>
              <a:gd name="adj" fmla="val 50000"/>
            </a:avLst>
          </a:prstGeom>
          <a:solidFill>
            <a:srgbClr val="FFC9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161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CUSTOMER, MORE MONEY</a:t>
            </a:r>
            <a:endParaRPr lang="en-US" sz="13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mph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animScale>
                                      <p:cBhvr>
                                        <p:cTn id="38" dur="18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051560"/>
            <a:ext cx="108200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ads were never the problem.</a:t>
            </a:r>
            <a:endParaRPr lang="en-US" sz="5000" dirty="0"/>
          </a:p>
        </p:txBody>
      </p:sp>
      <p:sp>
        <p:nvSpPr>
          <p:cNvPr id="3" name="Underline"/>
          <p:cNvSpPr/>
          <p:nvPr/>
        </p:nvSpPr>
        <p:spPr>
          <a:xfrm>
            <a:off x="4885563" y="1783080"/>
            <a:ext cx="1694561" cy="109728"/>
          </a:xfrm>
          <a:prstGeom prst="roundRect">
            <a:avLst>
              <a:gd name="adj" fmla="val 50000"/>
            </a:avLst>
          </a:prstGeom>
          <a:solidFill>
            <a:srgbClr val="FFC93C"/>
          </a:solidFill>
          <a:ln/>
        </p:spPr>
      </p:sp>
      <p:sp>
        <p:nvSpPr>
          <p:cNvPr id="4" name="Tag 1"/>
          <p:cNvSpPr txBox="1"/>
          <p:nvPr/>
        </p:nvSpPr>
        <p:spPr>
          <a:xfrm>
            <a:off x="685800" y="2258568"/>
            <a:ext cx="4618215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161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ONLY QUESTION THAT MATTERS</a:t>
            </a:r>
            <a:endParaRPr lang="en-US" sz="1300" dirty="0"/>
          </a:p>
        </p:txBody>
      </p:sp>
      <p:sp>
        <p:nvSpPr>
          <p:cNvPr id="5" name="Question card"/>
          <p:cNvSpPr/>
          <p:nvPr/>
        </p:nvSpPr>
        <p:spPr>
          <a:xfrm>
            <a:off x="685800" y="2807208"/>
            <a:ext cx="8412480" cy="2514600"/>
          </a:xfrm>
          <a:prstGeom prst="roundRect">
            <a:avLst>
              <a:gd name="adj" fmla="val 10909"/>
            </a:avLst>
          </a:prstGeom>
          <a:solidFill>
            <a:srgbClr val="16131F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sp>
        <p:nvSpPr>
          <p:cNvPr id="6" name="Dot 1"/>
          <p:cNvSpPr/>
          <p:nvPr/>
        </p:nvSpPr>
        <p:spPr>
          <a:xfrm>
            <a:off x="1051560" y="3035808"/>
            <a:ext cx="182880" cy="18288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Dot 2"/>
          <p:cNvSpPr/>
          <p:nvPr/>
        </p:nvSpPr>
        <p:spPr>
          <a:xfrm>
            <a:off x="1344168" y="3035808"/>
            <a:ext cx="182880" cy="18288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Dot 3"/>
          <p:cNvSpPr/>
          <p:nvPr/>
        </p:nvSpPr>
        <p:spPr>
          <a:xfrm>
            <a:off x="1636776" y="3035808"/>
            <a:ext cx="182880" cy="18288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Question"/>
          <p:cNvSpPr txBox="1"/>
          <p:nvPr/>
        </p:nvSpPr>
        <p:spPr>
          <a:xfrm>
            <a:off x="1097280" y="3355848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customer actually get?</a:t>
            </a:r>
            <a:endParaRPr lang="en-US" sz="50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iterate type="lt">
                                    <p:tmAbs val="45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051560"/>
            <a:ext cx="108200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they changed </a:t>
            </a:r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sentence.</a:t>
            </a:r>
            <a:endParaRPr lang="en-US" sz="5000" dirty="0"/>
          </a:p>
        </p:txBody>
      </p:sp>
      <p:sp>
        <p:nvSpPr>
          <p:cNvPr id="3" name="Card 1"/>
          <p:cNvSpPr txBox="1"/>
          <p:nvPr/>
        </p:nvSpPr>
        <p:spPr>
          <a:xfrm>
            <a:off x="685800" y="2212848"/>
            <a:ext cx="6035040" cy="786384"/>
          </a:xfrm>
          <a:prstGeom prst="roundRect">
            <a:avLst>
              <a:gd name="adj" fmla="val 23256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116840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product</a:t>
            </a:r>
            <a:endParaRPr lang="en-US" sz="3000" dirty="0"/>
          </a:p>
        </p:txBody>
      </p:sp>
      <p:sp>
        <p:nvSpPr>
          <p:cNvPr id="4" name="Badge 2"/>
          <p:cNvSpPr txBox="1"/>
          <p:nvPr/>
        </p:nvSpPr>
        <p:spPr>
          <a:xfrm>
            <a:off x="886968" y="2350008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✓</a:t>
            </a:r>
            <a:endParaRPr lang="en-US" sz="1700" dirty="0"/>
          </a:p>
        </p:txBody>
      </p:sp>
      <p:sp>
        <p:nvSpPr>
          <p:cNvPr id="5" name="Card 3"/>
          <p:cNvSpPr txBox="1"/>
          <p:nvPr/>
        </p:nvSpPr>
        <p:spPr>
          <a:xfrm>
            <a:off x="685800" y="3182112"/>
            <a:ext cx="6035040" cy="786384"/>
          </a:xfrm>
          <a:prstGeom prst="roundRect">
            <a:avLst>
              <a:gd name="adj" fmla="val 23256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116840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audience</a:t>
            </a:r>
            <a:endParaRPr lang="en-US" sz="3000" dirty="0"/>
          </a:p>
        </p:txBody>
      </p:sp>
      <p:sp>
        <p:nvSpPr>
          <p:cNvPr id="6" name="Badge 4"/>
          <p:cNvSpPr txBox="1"/>
          <p:nvPr/>
        </p:nvSpPr>
        <p:spPr>
          <a:xfrm>
            <a:off x="886968" y="3319272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✓</a:t>
            </a:r>
            <a:endParaRPr lang="en-US" sz="1700" dirty="0"/>
          </a:p>
        </p:txBody>
      </p:sp>
      <p:sp>
        <p:nvSpPr>
          <p:cNvPr id="7" name="Card 5"/>
          <p:cNvSpPr txBox="1"/>
          <p:nvPr/>
        </p:nvSpPr>
        <p:spPr>
          <a:xfrm>
            <a:off x="685800" y="4151376"/>
            <a:ext cx="6035040" cy="786384"/>
          </a:xfrm>
          <a:prstGeom prst="roundRect">
            <a:avLst>
              <a:gd name="adj" fmla="val 23256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116840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budget</a:t>
            </a:r>
            <a:endParaRPr lang="en-US" sz="3000" dirty="0"/>
          </a:p>
        </p:txBody>
      </p:sp>
      <p:sp>
        <p:nvSpPr>
          <p:cNvPr id="8" name="Badge 6"/>
          <p:cNvSpPr txBox="1"/>
          <p:nvPr/>
        </p:nvSpPr>
        <p:spPr>
          <a:xfrm>
            <a:off x="886968" y="4288536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✓</a:t>
            </a:r>
            <a:endParaRPr lang="en-US" sz="1700" dirty="0"/>
          </a:p>
        </p:txBody>
      </p:sp>
      <p:sp>
        <p:nvSpPr>
          <p:cNvPr id="9" name="Card 7"/>
          <p:cNvSpPr txBox="1"/>
          <p:nvPr/>
        </p:nvSpPr>
        <p:spPr>
          <a:xfrm rot="180000">
            <a:off x="7452360" y="2121408"/>
            <a:ext cx="4023360" cy="3200400"/>
          </a:xfrm>
          <a:prstGeom prst="roundRect">
            <a:avLst>
              <a:gd name="adj" fmla="val 8571"/>
            </a:avLst>
          </a:prstGeom>
          <a:solidFill>
            <a:srgbClr val="16131F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changed</a:t>
            </a:r>
            <a:endParaRPr lang="en-US" sz="150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2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6" presetClass="emph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53" dur="18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1"/>
          <p:cNvSpPr txBox="1"/>
          <p:nvPr/>
        </p:nvSpPr>
        <p:spPr>
          <a:xfrm>
            <a:off x="685800" y="822960"/>
            <a:ext cx="2854733" cy="384048"/>
          </a:xfrm>
          <a:prstGeom prst="roundRect">
            <a:avLst>
              <a:gd name="adj" fmla="val 50000"/>
            </a:avLst>
          </a:prstGeom>
          <a:solidFill>
            <a:srgbClr val="1613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PER CUSTOMER</a:t>
            </a:r>
            <a:endParaRPr lang="en-US" sz="1300" dirty="0"/>
          </a:p>
        </p:txBody>
      </p:sp>
      <p:sp>
        <p:nvSpPr>
          <p:cNvPr id="3" name="Value 0"/>
          <p:cNvSpPr txBox="1"/>
          <p:nvPr/>
        </p:nvSpPr>
        <p:spPr>
          <a:xfrm>
            <a:off x="594360" y="132588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0" b="1" spc="-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$157</a:t>
            </a:r>
            <a:endParaRPr lang="en-US" sz="21000" dirty="0"/>
          </a:p>
        </p:txBody>
      </p:sp>
      <p:sp>
        <p:nvSpPr>
          <p:cNvPr id="4" name="Chip 0"/>
          <p:cNvSpPr txBox="1"/>
          <p:nvPr/>
        </p:nvSpPr>
        <p:spPr>
          <a:xfrm>
            <a:off x="685800" y="4343400"/>
            <a:ext cx="1417320" cy="640080"/>
          </a:xfrm>
          <a:prstGeom prst="roundRect">
            <a:avLst>
              <a:gd name="adj" fmla="val 25714"/>
            </a:avLst>
          </a:prstGeom>
          <a:solidFill>
            <a:srgbClr val="FFFFFF">
              <a:alpha val="2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$157</a:t>
            </a:r>
            <a:endParaRPr lang="en-US" sz="2400" dirty="0"/>
          </a:p>
        </p:txBody>
      </p:sp>
      <p:sp>
        <p:nvSpPr>
          <p:cNvPr id="5" name="Strike 0"/>
          <p:cNvSpPr/>
          <p:nvPr/>
        </p:nvSpPr>
        <p:spPr>
          <a:xfrm>
            <a:off x="868680" y="4663440"/>
            <a:ext cx="105156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6" name="Value 1"/>
          <p:cNvSpPr txBox="1"/>
          <p:nvPr/>
        </p:nvSpPr>
        <p:spPr>
          <a:xfrm>
            <a:off x="594360" y="132588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0" b="1" spc="-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</a:t>
            </a:r>
            <a:endParaRPr lang="en-US" sz="21000" dirty="0"/>
          </a:p>
        </p:txBody>
      </p:sp>
      <p:sp>
        <p:nvSpPr>
          <p:cNvPr id="7" name="Chip 1"/>
          <p:cNvSpPr txBox="1"/>
          <p:nvPr/>
        </p:nvSpPr>
        <p:spPr>
          <a:xfrm>
            <a:off x="2286000" y="4343400"/>
            <a:ext cx="1417320" cy="640080"/>
          </a:xfrm>
          <a:prstGeom prst="roundRect">
            <a:avLst>
              <a:gd name="adj" fmla="val 25714"/>
            </a:avLst>
          </a:prstGeom>
          <a:solidFill>
            <a:srgbClr val="FFFFFF">
              <a:alpha val="2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</a:t>
            </a:r>
            <a:endParaRPr lang="en-US" sz="2400" dirty="0"/>
          </a:p>
        </p:txBody>
      </p:sp>
      <p:sp>
        <p:nvSpPr>
          <p:cNvPr id="8" name="Strike 1"/>
          <p:cNvSpPr/>
          <p:nvPr/>
        </p:nvSpPr>
        <p:spPr>
          <a:xfrm>
            <a:off x="2468880" y="4663440"/>
            <a:ext cx="105156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9" name="Value 2"/>
          <p:cNvSpPr txBox="1"/>
          <p:nvPr/>
        </p:nvSpPr>
        <p:spPr>
          <a:xfrm>
            <a:off x="594360" y="132588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0" b="1" spc="-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</a:t>
            </a:r>
            <a:endParaRPr lang="en-US" sz="21000" dirty="0"/>
          </a:p>
        </p:txBody>
      </p:sp>
      <p:sp>
        <p:nvSpPr>
          <p:cNvPr id="10" name="Chip 2"/>
          <p:cNvSpPr txBox="1"/>
          <p:nvPr/>
        </p:nvSpPr>
        <p:spPr>
          <a:xfrm>
            <a:off x="3886200" y="4343400"/>
            <a:ext cx="1417320" cy="640080"/>
          </a:xfrm>
          <a:prstGeom prst="roundRect">
            <a:avLst>
              <a:gd name="adj" fmla="val 25714"/>
            </a:avLst>
          </a:prstGeom>
          <a:solidFill>
            <a:srgbClr val="FFFFFF">
              <a:alpha val="2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</a:t>
            </a:r>
            <a:endParaRPr lang="en-US" sz="2400" dirty="0"/>
          </a:p>
        </p:txBody>
      </p:sp>
      <p:sp>
        <p:nvSpPr>
          <p:cNvPr id="11" name="Strike 2"/>
          <p:cNvSpPr/>
          <p:nvPr/>
        </p:nvSpPr>
        <p:spPr>
          <a:xfrm>
            <a:off x="4069080" y="4663440"/>
            <a:ext cx="105156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2" name="Value 3"/>
          <p:cNvSpPr txBox="1"/>
          <p:nvPr/>
        </p:nvSpPr>
        <p:spPr>
          <a:xfrm>
            <a:off x="594360" y="132588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0" b="1" spc="-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$3.58</a:t>
            </a:r>
            <a:endParaRPr lang="en-US" sz="21000" dirty="0"/>
          </a:p>
        </p:txBody>
      </p:sp>
      <p:sp>
        <p:nvSpPr>
          <p:cNvPr id="13" name="Chip 3"/>
          <p:cNvSpPr txBox="1"/>
          <p:nvPr/>
        </p:nvSpPr>
        <p:spPr>
          <a:xfrm>
            <a:off x="5486400" y="4343400"/>
            <a:ext cx="1417320" cy="640080"/>
          </a:xfrm>
          <a:prstGeom prst="roundRect">
            <a:avLst>
              <a:gd name="adj" fmla="val 25714"/>
            </a:avLst>
          </a:prstGeom>
          <a:solidFill>
            <a:srgbClr val="FFC9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$3.58</a:t>
            </a:r>
            <a:endParaRPr lang="en-US" sz="2400" dirty="0"/>
          </a:p>
        </p:txBody>
      </p:sp>
      <p:sp>
        <p:nvSpPr>
          <p:cNvPr id="14" name="Text 2"/>
          <p:cNvSpPr txBox="1"/>
          <p:nvPr/>
        </p:nvSpPr>
        <p:spPr>
          <a:xfrm>
            <a:off x="685800" y="5349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</a:t>
            </a:r>
            <a:pPr indent="0" marL="0">
              <a:buNone/>
            </a:pPr>
            <a:r>
              <a:rPr lang="en-US" sz="4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sentence.</a:t>
            </a:r>
            <a:endParaRPr lang="en-US" sz="44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6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2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2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" presetClass="emph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animScale>
                                      <p:cBhvr>
                                        <p:cTn id="86" dur="18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3" grpId="1" animBg="1"/>
      <p:bldP spid="5" grpId="0" animBg="1"/>
      <p:bldP spid="6" grpId="0" animBg="1"/>
      <p:bldP spid="7" grpId="0" animBg="1"/>
      <p:bldP spid="6" grpId="1" animBg="1"/>
      <p:bldP spid="8" grpId="0" animBg="1"/>
      <p:bldP spid="9" grpId="0" animBg="1"/>
      <p:bldP spid="10" grpId="0" animBg="1"/>
      <p:bldP spid="9" grpId="1" animBg="1"/>
      <p:bldP spid="11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051560"/>
            <a:ext cx="108200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Picture a man staring at </a:t>
            </a:r>
            <a:pPr algn="l" indent="0" marL="0">
              <a:buNone/>
            </a:pPr>
            <a:r>
              <a:rPr lang="en-US" sz="50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drills.</a:t>
            </a:r>
            <a:endParaRPr lang="en-US" sz="5000" dirty="0"/>
          </a:p>
        </p:txBody>
      </p:sp>
      <p:sp>
        <p:nvSpPr>
          <p:cNvPr id="3" name="Card 1"/>
          <p:cNvSpPr txBox="1"/>
          <p:nvPr/>
        </p:nvSpPr>
        <p:spPr>
          <a:xfrm rot="-180000">
            <a:off x="685800" y="2395728"/>
            <a:ext cx="3108960" cy="2926080"/>
          </a:xfrm>
          <a:prstGeom prst="roundRect">
            <a:avLst>
              <a:gd name="adj" fmla="val 9375"/>
            </a:avLst>
          </a:prstGeom>
          <a:solidFill>
            <a:srgbClr val="16131F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0" dirty="0"/>
          </a:p>
          <a:p>
            <a:pPr algn="ctr" indent="0" marL="0">
              <a:buNone/>
            </a:pPr>
            <a:r>
              <a:rPr lang="en-US" sz="1400" spc="300" kern="0" dirty="0">
                <a:solidFill>
                  <a:srgbClr val="BD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DRILL 1</a:t>
            </a:r>
            <a:endParaRPr lang="en-US" sz="11000" dirty="0"/>
          </a:p>
        </p:txBody>
      </p:sp>
      <p:sp>
        <p:nvSpPr>
          <p:cNvPr id="4" name="Card 2"/>
          <p:cNvSpPr txBox="1"/>
          <p:nvPr/>
        </p:nvSpPr>
        <p:spPr>
          <a:xfrm rot="120000">
            <a:off x="4206240" y="2395728"/>
            <a:ext cx="3108960" cy="2926080"/>
          </a:xfrm>
          <a:prstGeom prst="roundRect">
            <a:avLst>
              <a:gd name="adj" fmla="val 9375"/>
            </a:avLst>
          </a:prstGeom>
          <a:solidFill>
            <a:srgbClr val="16131F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0" dirty="0"/>
          </a:p>
          <a:p>
            <a:pPr algn="ctr" indent="0" marL="0">
              <a:buNone/>
            </a:pPr>
            <a:r>
              <a:rPr lang="en-US" sz="1400" spc="300" kern="0" dirty="0">
                <a:solidFill>
                  <a:srgbClr val="BD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DRILL 2</a:t>
            </a:r>
            <a:endParaRPr lang="en-US" sz="11000" dirty="0"/>
          </a:p>
        </p:txBody>
      </p:sp>
      <p:sp>
        <p:nvSpPr>
          <p:cNvPr id="5" name="Card 3"/>
          <p:cNvSpPr txBox="1"/>
          <p:nvPr/>
        </p:nvSpPr>
        <p:spPr>
          <a:xfrm rot="-60000">
            <a:off x="7726680" y="2395728"/>
            <a:ext cx="3108960" cy="2926080"/>
          </a:xfrm>
          <a:prstGeom prst="roundRect">
            <a:avLst>
              <a:gd name="adj" fmla="val 9375"/>
            </a:avLst>
          </a:prstGeom>
          <a:solidFill>
            <a:srgbClr val="16131F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0" dirty="0"/>
          </a:p>
          <a:p>
            <a:pPr algn="ctr" indent="0" marL="0">
              <a:buNone/>
            </a:pPr>
            <a:r>
              <a:rPr lang="en-US" sz="1400" spc="300" kern="0" dirty="0">
                <a:solidFill>
                  <a:srgbClr val="BD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DRILL 3</a:t>
            </a:r>
            <a:endParaRPr lang="en-US" sz="11000" dirty="0"/>
          </a:p>
        </p:txBody>
      </p:sp>
      <p:sp>
        <p:nvSpPr>
          <p:cNvPr id="6" name="Tag 4"/>
          <p:cNvSpPr txBox="1"/>
          <p:nvPr/>
        </p:nvSpPr>
        <p:spPr>
          <a:xfrm>
            <a:off x="685800" y="5687568"/>
            <a:ext cx="4211258" cy="384048"/>
          </a:xfrm>
          <a:prstGeom prst="roundRect">
            <a:avLst>
              <a:gd name="adj" fmla="val 50000"/>
            </a:avLst>
          </a:prstGeom>
          <a:solidFill>
            <a:srgbClr val="FFC9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161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 IS NOT READING THE BOXES</a:t>
            </a:r>
            <a:endParaRPr lang="en-US" sz="13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mp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38" dur="18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6" presetClass="emph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animScale>
                                      <p:cBhvr>
                                        <p:cTn id="41" dur="18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6" presetClass="emph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animScale>
                                      <p:cBhvr>
                                        <p:cTn id="44" dur="18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051560"/>
            <a:ext cx="108200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is not buying </a:t>
            </a:r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drill.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02996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is buying:</a:t>
            </a:r>
            <a:endParaRPr lang="en-US" sz="2600" dirty="0"/>
          </a:p>
        </p:txBody>
      </p:sp>
      <p:sp>
        <p:nvSpPr>
          <p:cNvPr id="4" name="Card 2"/>
          <p:cNvSpPr txBox="1"/>
          <p:nvPr/>
        </p:nvSpPr>
        <p:spPr>
          <a:xfrm>
            <a:off x="685800" y="2715768"/>
            <a:ext cx="6035040" cy="786384"/>
          </a:xfrm>
          <a:prstGeom prst="roundRect">
            <a:avLst>
              <a:gd name="adj" fmla="val 23256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116840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garage</a:t>
            </a:r>
            <a:endParaRPr lang="en-US" sz="3000" dirty="0"/>
          </a:p>
        </p:txBody>
      </p:sp>
      <p:sp>
        <p:nvSpPr>
          <p:cNvPr id="5" name="Badge 3"/>
          <p:cNvSpPr txBox="1"/>
          <p:nvPr/>
        </p:nvSpPr>
        <p:spPr>
          <a:xfrm>
            <a:off x="886968" y="2852928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✓</a:t>
            </a:r>
            <a:endParaRPr lang="en-US" sz="1700" dirty="0"/>
          </a:p>
        </p:txBody>
      </p:sp>
      <p:sp>
        <p:nvSpPr>
          <p:cNvPr id="6" name="Card 4"/>
          <p:cNvSpPr txBox="1"/>
          <p:nvPr/>
        </p:nvSpPr>
        <p:spPr>
          <a:xfrm>
            <a:off x="685800" y="3685032"/>
            <a:ext cx="6035040" cy="786384"/>
          </a:xfrm>
          <a:prstGeom prst="roundRect">
            <a:avLst>
              <a:gd name="adj" fmla="val 23256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116840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shelf finally level</a:t>
            </a:r>
            <a:endParaRPr lang="en-US" sz="3000" dirty="0"/>
          </a:p>
        </p:txBody>
      </p:sp>
      <p:sp>
        <p:nvSpPr>
          <p:cNvPr id="7" name="Badge 5"/>
          <p:cNvSpPr txBox="1"/>
          <p:nvPr/>
        </p:nvSpPr>
        <p:spPr>
          <a:xfrm>
            <a:off x="886968" y="3822192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✓</a:t>
            </a:r>
            <a:endParaRPr lang="en-US" sz="1700" dirty="0"/>
          </a:p>
        </p:txBody>
      </p:sp>
      <p:sp>
        <p:nvSpPr>
          <p:cNvPr id="8" name="Card 6"/>
          <p:cNvSpPr txBox="1"/>
          <p:nvPr/>
        </p:nvSpPr>
        <p:spPr>
          <a:xfrm>
            <a:off x="685800" y="4654296"/>
            <a:ext cx="6035040" cy="786384"/>
          </a:xfrm>
          <a:prstGeom prst="roundRect">
            <a:avLst>
              <a:gd name="adj" fmla="val 23256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116840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job done</a:t>
            </a:r>
            <a:endParaRPr lang="en-US" sz="3000" dirty="0"/>
          </a:p>
        </p:txBody>
      </p:sp>
      <p:sp>
        <p:nvSpPr>
          <p:cNvPr id="9" name="Badge 7"/>
          <p:cNvSpPr txBox="1"/>
          <p:nvPr/>
        </p:nvSpPr>
        <p:spPr>
          <a:xfrm>
            <a:off x="886968" y="4791456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✓</a:t>
            </a:r>
            <a:endParaRPr lang="en-US" sz="1700" dirty="0"/>
          </a:p>
        </p:txBody>
      </p:sp>
      <p:sp>
        <p:nvSpPr>
          <p:cNvPr id="10" name="Card 8"/>
          <p:cNvSpPr txBox="1"/>
          <p:nvPr/>
        </p:nvSpPr>
        <p:spPr>
          <a:xfrm rot="180000">
            <a:off x="7452360" y="2121408"/>
            <a:ext cx="4023360" cy="3200400"/>
          </a:xfrm>
          <a:prstGeom prst="roundRect">
            <a:avLst>
              <a:gd name="adj" fmla="val 8571"/>
            </a:avLst>
          </a:prstGeom>
          <a:solidFill>
            <a:srgbClr val="16131F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drill is just the tool.</a:t>
            </a:r>
            <a:endParaRPr lang="en-US" sz="44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" presetClass="emph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60" dur="18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051560"/>
            <a:ext cx="108200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buys a ride </a:t>
            </a:r>
            <a:pPr algn="l" indent="0" marL="0">
              <a:buNone/>
            </a:pPr>
            <a:r>
              <a:rPr lang="en-US" sz="50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taxi.</a:t>
            </a:r>
            <a:endParaRPr lang="en-US" sz="5000" dirty="0"/>
          </a:p>
        </p:txBody>
      </p:sp>
      <p:sp>
        <p:nvSpPr>
          <p:cNvPr id="3" name="Card 1"/>
          <p:cNvSpPr txBox="1"/>
          <p:nvPr/>
        </p:nvSpPr>
        <p:spPr>
          <a:xfrm rot="-120000">
            <a:off x="685800" y="2350008"/>
            <a:ext cx="5029200" cy="2377440"/>
          </a:xfrm>
          <a:prstGeom prst="roundRect">
            <a:avLst>
              <a:gd name="adj" fmla="val 11538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431800" tIns="304800" rIns="431800" bIns="304800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6B6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THEY ARE BUYING</a:t>
            </a:r>
            <a:endParaRPr lang="en-US" sz="14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ride home.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172200" y="2075688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buys your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for the service.</a:t>
            </a:r>
            <a:endParaRPr lang="en-US" sz="2400" dirty="0"/>
          </a:p>
        </p:txBody>
      </p:sp>
      <p:sp>
        <p:nvSpPr>
          <p:cNvPr id="5" name="Card 3"/>
          <p:cNvSpPr txBox="1"/>
          <p:nvPr/>
        </p:nvSpPr>
        <p:spPr>
          <a:xfrm rot="120000">
            <a:off x="6172200" y="3127248"/>
            <a:ext cx="5349240" cy="2103120"/>
          </a:xfrm>
          <a:prstGeom prst="roundRect">
            <a:avLst>
              <a:gd name="adj" fmla="val 13043"/>
            </a:avLst>
          </a:prstGeom>
          <a:solidFill>
            <a:srgbClr val="16131F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431800" tIns="304800" rIns="431800" bIns="30480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buying the </a:t>
            </a:r>
            <a:pPr algn="l" indent="0" marL="0">
              <a:buNone/>
            </a:pPr>
            <a:r>
              <a:rPr lang="en-US" sz="3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hand them.</a:t>
            </a:r>
            <a:endParaRPr lang="en-US" sz="36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31" dur="18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051560"/>
            <a:ext cx="108200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asks </a:t>
            </a:r>
            <a:pPr algn="l" indent="0" marL="0">
              <a:buNone/>
            </a:pPr>
            <a:r>
              <a:rPr lang="en-US" sz="50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price.</a:t>
            </a:r>
            <a:endParaRPr lang="en-US" sz="5000" dirty="0"/>
          </a:p>
        </p:txBody>
      </p:sp>
      <p:sp>
        <p:nvSpPr>
          <p:cNvPr id="3" name="Card 1"/>
          <p:cNvSpPr txBox="1"/>
          <p:nvPr/>
        </p:nvSpPr>
        <p:spPr>
          <a:xfrm rot="-180000">
            <a:off x="685800" y="2212848"/>
            <a:ext cx="3291840" cy="3108960"/>
          </a:xfrm>
          <a:prstGeom prst="roundRect">
            <a:avLst>
              <a:gd name="adj" fmla="val 8824"/>
            </a:avLst>
          </a:prstGeom>
          <a:solidFill>
            <a:srgbClr val="16131F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2s</a:t>
            </a:r>
            <a:endParaRPr lang="en-US" sz="120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go quiet.</a:t>
            </a:r>
            <a:endParaRPr lang="en-US" sz="12000" dirty="0"/>
          </a:p>
        </p:txBody>
      </p:sp>
      <p:sp>
        <p:nvSpPr>
          <p:cNvPr id="4" name="Card 2"/>
          <p:cNvSpPr txBox="1"/>
          <p:nvPr/>
        </p:nvSpPr>
        <p:spPr>
          <a:xfrm>
            <a:off x="4434840" y="2212848"/>
            <a:ext cx="7086600" cy="1417320"/>
          </a:xfrm>
          <a:prstGeom prst="roundRect">
            <a:avLst>
              <a:gd name="adj" fmla="val 16129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ctr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6B6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MOST PEOPLE DO</a:t>
            </a:r>
            <a:endParaRPr lang="en-US" sz="13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the silence with a </a:t>
            </a:r>
            <a:pPr algn="l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discount.</a:t>
            </a:r>
            <a:endParaRPr lang="en-US" sz="1300" dirty="0"/>
          </a:p>
        </p:txBody>
      </p:sp>
      <p:sp>
        <p:nvSpPr>
          <p:cNvPr id="5" name="Badge 3"/>
          <p:cNvSpPr txBox="1"/>
          <p:nvPr/>
        </p:nvSpPr>
        <p:spPr>
          <a:xfrm>
            <a:off x="11018520" y="1984248"/>
            <a:ext cx="685800" cy="685800"/>
          </a:xfrm>
          <a:prstGeom prst="ellipse">
            <a:avLst/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✕</a:t>
            </a:r>
            <a:endParaRPr lang="en-US" sz="2300" dirty="0"/>
          </a:p>
        </p:txBody>
      </p:sp>
      <p:sp>
        <p:nvSpPr>
          <p:cNvPr id="6" name="Card 4"/>
          <p:cNvSpPr txBox="1"/>
          <p:nvPr/>
        </p:nvSpPr>
        <p:spPr>
          <a:xfrm>
            <a:off x="4434840" y="3858768"/>
            <a:ext cx="7086600" cy="1600200"/>
          </a:xfrm>
          <a:prstGeom prst="roundRect">
            <a:avLst>
              <a:gd name="adj" fmla="val 14286"/>
            </a:avLst>
          </a:prstGeom>
          <a:solidFill>
            <a:srgbClr val="FFC93C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ctr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161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INSTEAD</a:t>
            </a:r>
            <a:endParaRPr lang="en-US" sz="13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the pause with the transformation and the discount never comes up.</a:t>
            </a:r>
            <a:endParaRPr lang="en-US" sz="13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mph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38" dur="18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051560"/>
            <a:ext cx="108200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transformation </a:t>
            </a:r>
            <a:pPr algn="l" indent="0" marL="0">
              <a:buNone/>
            </a:pPr>
            <a:r>
              <a:rPr lang="en-US" sz="50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buying.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77977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make it show in</a:t>
            </a:r>
            <a:endParaRPr lang="en-US" sz="2600" dirty="0"/>
          </a:p>
        </p:txBody>
      </p:sp>
      <p:sp>
        <p:nvSpPr>
          <p:cNvPr id="4" name="Card 2"/>
          <p:cNvSpPr txBox="1"/>
          <p:nvPr/>
        </p:nvSpPr>
        <p:spPr>
          <a:xfrm rot="-120000">
            <a:off x="685800" y="3465576"/>
            <a:ext cx="2971800" cy="1005840"/>
          </a:xfrm>
          <a:prstGeom prst="roundRect">
            <a:avLst>
              <a:gd name="adj" fmla="val 22727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page</a:t>
            </a:r>
            <a:endParaRPr lang="en-US" sz="3200" dirty="0"/>
          </a:p>
        </p:txBody>
      </p:sp>
      <p:sp>
        <p:nvSpPr>
          <p:cNvPr id="5" name="Card 3"/>
          <p:cNvSpPr txBox="1"/>
          <p:nvPr/>
        </p:nvSpPr>
        <p:spPr>
          <a:xfrm rot="60000">
            <a:off x="3931920" y="3465576"/>
            <a:ext cx="2971800" cy="1005840"/>
          </a:xfrm>
          <a:prstGeom prst="roundRect">
            <a:avLst>
              <a:gd name="adj" fmla="val 22727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price</a:t>
            </a:r>
            <a:endParaRPr lang="en-US" sz="3200" dirty="0"/>
          </a:p>
        </p:txBody>
      </p:sp>
      <p:sp>
        <p:nvSpPr>
          <p:cNvPr id="6" name="Card 4"/>
          <p:cNvSpPr txBox="1"/>
          <p:nvPr/>
        </p:nvSpPr>
        <p:spPr>
          <a:xfrm rot="-60000">
            <a:off x="7178040" y="3465576"/>
            <a:ext cx="2971800" cy="1005840"/>
          </a:xfrm>
          <a:prstGeom prst="roundRect">
            <a:avLst>
              <a:gd name="adj" fmla="val 22727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word</a:t>
            </a:r>
            <a:endParaRPr lang="en-US" sz="3200" dirty="0"/>
          </a:p>
        </p:txBody>
      </p:sp>
      <p:sp>
        <p:nvSpPr>
          <p:cNvPr id="7" name="Card 5"/>
          <p:cNvSpPr txBox="1"/>
          <p:nvPr/>
        </p:nvSpPr>
        <p:spPr>
          <a:xfrm rot="-180000">
            <a:off x="685800" y="4882896"/>
            <a:ext cx="4452107" cy="1325880"/>
          </a:xfrm>
          <a:prstGeom prst="roundRect">
            <a:avLst>
              <a:gd name="adj" fmla="val 24138"/>
            </a:avLst>
          </a:prstGeom>
          <a:solidFill>
            <a:srgbClr val="FFC93C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WIN-WIN</a:t>
            </a:r>
            <a:endParaRPr lang="en-US" sz="66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mph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45" dur="18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the worse product keeps winning</dc:title>
  <dc:subject>PptxGenJS Presentation</dc:subject>
  <dc:creator>PptxGenJS</dc:creator>
  <cp:lastModifiedBy>PptxGenJS</cp:lastModifiedBy>
  <cp:revision>1</cp:revision>
  <dcterms:created xsi:type="dcterms:W3CDTF">2026-10-13T19:14:05Z</dcterms:created>
  <dcterms:modified xsi:type="dcterms:W3CDTF">2026-10-13T19:14:05Z</dcterms:modified>
</cp:coreProperties>
</file>